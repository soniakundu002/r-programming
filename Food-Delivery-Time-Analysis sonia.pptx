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715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1430000" cy="6445250"/>
  <p:notesSz cx="11430000" cy="644525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98" d="100"/>
          <a:sy n="98" d="100"/>
        </p:scale>
        <p:origin x="837" y="9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7957"/>
            <a:ext cx="11430000" cy="645320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12875" y="2259817"/>
            <a:ext cx="7281503" cy="1547219"/>
          </a:xfrm>
        </p:spPr>
        <p:txBody>
          <a:bodyPr anchor="b">
            <a:noAutofit/>
          </a:bodyPr>
          <a:lstStyle>
            <a:lvl1pPr algn="r">
              <a:defRPr sz="5063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12875" y="3807033"/>
            <a:ext cx="7281503" cy="1030882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286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8572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2858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1431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5717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0003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429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12085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37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31909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5002" y="2538315"/>
            <a:ext cx="8059376" cy="1716648"/>
          </a:xfrm>
        </p:spPr>
        <p:txBody>
          <a:bodyPr anchor="b"/>
          <a:lstStyle>
            <a:lvl1pPr algn="l">
              <a:defRPr sz="375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5002" y="4254963"/>
            <a:ext cx="8059376" cy="808617"/>
          </a:xfrm>
        </p:spPr>
        <p:txBody>
          <a:bodyPr anchor="t"/>
          <a:lstStyle>
            <a:lvl1pPr marL="0" indent="0" algn="l">
              <a:buNone/>
              <a:defRPr sz="1875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28625" indent="0">
              <a:buNone/>
              <a:defRPr sz="1688">
                <a:solidFill>
                  <a:schemeClr val="tx1">
                    <a:tint val="75000"/>
                  </a:schemeClr>
                </a:solidFill>
              </a:defRPr>
            </a:lvl2pPr>
            <a:lvl3pPr marL="85725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3pPr>
            <a:lvl4pPr marL="1285875" indent="0">
              <a:buNone/>
              <a:defRPr sz="1313">
                <a:solidFill>
                  <a:schemeClr val="tx1">
                    <a:tint val="75000"/>
                  </a:schemeClr>
                </a:solidFill>
              </a:defRPr>
            </a:lvl4pPr>
            <a:lvl5pPr marL="1714500" indent="0">
              <a:buNone/>
              <a:defRPr sz="1313">
                <a:solidFill>
                  <a:schemeClr val="tx1">
                    <a:tint val="75000"/>
                  </a:schemeClr>
                </a:solidFill>
              </a:defRPr>
            </a:lvl5pPr>
            <a:lvl6pPr marL="2143125" indent="0">
              <a:buNone/>
              <a:defRPr sz="1313">
                <a:solidFill>
                  <a:schemeClr val="tx1">
                    <a:tint val="75000"/>
                  </a:schemeClr>
                </a:solidFill>
              </a:defRPr>
            </a:lvl6pPr>
            <a:lvl7pPr marL="2571750" indent="0">
              <a:buNone/>
              <a:defRPr sz="1313">
                <a:solidFill>
                  <a:schemeClr val="tx1">
                    <a:tint val="75000"/>
                  </a:schemeClr>
                </a:solidFill>
              </a:defRPr>
            </a:lvl7pPr>
            <a:lvl8pPr marL="3000375" indent="0">
              <a:buNone/>
              <a:defRPr sz="1313">
                <a:solidFill>
                  <a:schemeClr val="tx1">
                    <a:tint val="75000"/>
                  </a:schemeClr>
                </a:solidFill>
              </a:defRPr>
            </a:lvl8pPr>
            <a:lvl9pPr marL="3429000" indent="0">
              <a:buNone/>
              <a:defRPr sz="131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53977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35001" y="2030554"/>
            <a:ext cx="3922533" cy="36472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71847" y="2030554"/>
            <a:ext cx="3922532" cy="364720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55020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3511" y="2030924"/>
            <a:ext cx="3924022" cy="541580"/>
          </a:xfrm>
        </p:spPr>
        <p:txBody>
          <a:bodyPr anchor="b">
            <a:noAutofit/>
          </a:bodyPr>
          <a:lstStyle>
            <a:lvl1pPr marL="0" indent="0">
              <a:buNone/>
              <a:defRPr sz="2250" b="0"/>
            </a:lvl1pPr>
            <a:lvl2pPr marL="428625" indent="0">
              <a:buNone/>
              <a:defRPr sz="1875" b="1"/>
            </a:lvl2pPr>
            <a:lvl3pPr marL="857250" indent="0">
              <a:buNone/>
              <a:defRPr sz="1688" b="1"/>
            </a:lvl3pPr>
            <a:lvl4pPr marL="1285875" indent="0">
              <a:buNone/>
              <a:defRPr sz="1500" b="1"/>
            </a:lvl4pPr>
            <a:lvl5pPr marL="1714500" indent="0">
              <a:buNone/>
              <a:defRPr sz="1500" b="1"/>
            </a:lvl5pPr>
            <a:lvl6pPr marL="2143125" indent="0">
              <a:buNone/>
              <a:defRPr sz="1500" b="1"/>
            </a:lvl6pPr>
            <a:lvl7pPr marL="2571750" indent="0">
              <a:buNone/>
              <a:defRPr sz="1500" b="1"/>
            </a:lvl7pPr>
            <a:lvl8pPr marL="3000375" indent="0">
              <a:buNone/>
              <a:defRPr sz="1500" b="1"/>
            </a:lvl8pPr>
            <a:lvl9pPr marL="3429000" indent="0">
              <a:buNone/>
              <a:defRPr sz="15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511" y="2572504"/>
            <a:ext cx="3924022" cy="310525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70359" y="2030924"/>
            <a:ext cx="3924017" cy="541580"/>
          </a:xfrm>
        </p:spPr>
        <p:txBody>
          <a:bodyPr anchor="b">
            <a:noAutofit/>
          </a:bodyPr>
          <a:lstStyle>
            <a:lvl1pPr marL="0" indent="0">
              <a:buNone/>
              <a:defRPr sz="2250" b="0"/>
            </a:lvl1pPr>
            <a:lvl2pPr marL="428625" indent="0">
              <a:buNone/>
              <a:defRPr sz="1875" b="1"/>
            </a:lvl2pPr>
            <a:lvl3pPr marL="857250" indent="0">
              <a:buNone/>
              <a:defRPr sz="1688" b="1"/>
            </a:lvl3pPr>
            <a:lvl4pPr marL="1285875" indent="0">
              <a:buNone/>
              <a:defRPr sz="1500" b="1"/>
            </a:lvl4pPr>
            <a:lvl5pPr marL="1714500" indent="0">
              <a:buNone/>
              <a:defRPr sz="1500" b="1"/>
            </a:lvl5pPr>
            <a:lvl6pPr marL="2143125" indent="0">
              <a:buNone/>
              <a:defRPr sz="1500" b="1"/>
            </a:lvl6pPr>
            <a:lvl7pPr marL="2571750" indent="0">
              <a:buNone/>
              <a:defRPr sz="1500" b="1"/>
            </a:lvl7pPr>
            <a:lvl8pPr marL="3000375" indent="0">
              <a:buNone/>
              <a:defRPr sz="1500" b="1"/>
            </a:lvl8pPr>
            <a:lvl9pPr marL="3429000" indent="0">
              <a:buNone/>
              <a:defRPr sz="15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70360" y="2572504"/>
            <a:ext cx="3924016" cy="310525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24635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5001" y="572911"/>
            <a:ext cx="8059376" cy="124130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93671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36972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5001" y="1408410"/>
            <a:ext cx="3613620" cy="1201521"/>
          </a:xfrm>
        </p:spPr>
        <p:txBody>
          <a:bodyPr anchor="b">
            <a:normAutofit/>
          </a:bodyPr>
          <a:lstStyle>
            <a:lvl1pPr>
              <a:defRPr sz="187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62933" y="483934"/>
            <a:ext cx="4231445" cy="519382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5001" y="2609931"/>
            <a:ext cx="3613620" cy="2428903"/>
          </a:xfrm>
        </p:spPr>
        <p:txBody>
          <a:bodyPr>
            <a:normAutofit/>
          </a:bodyPr>
          <a:lstStyle>
            <a:lvl1pPr marL="0" indent="0">
              <a:buNone/>
              <a:defRPr sz="1313"/>
            </a:lvl1pPr>
            <a:lvl2pPr marL="428497" indent="0">
              <a:buNone/>
              <a:defRPr sz="1313"/>
            </a:lvl2pPr>
            <a:lvl3pPr marL="856993" indent="0">
              <a:buNone/>
              <a:defRPr sz="1125"/>
            </a:lvl3pPr>
            <a:lvl4pPr marL="1285490" indent="0">
              <a:buNone/>
              <a:defRPr sz="938"/>
            </a:lvl4pPr>
            <a:lvl5pPr marL="1713985" indent="0">
              <a:buNone/>
              <a:defRPr sz="938"/>
            </a:lvl5pPr>
            <a:lvl6pPr marL="2142482" indent="0">
              <a:buNone/>
              <a:defRPr sz="938"/>
            </a:lvl6pPr>
            <a:lvl7pPr marL="2570978" indent="0">
              <a:buNone/>
              <a:defRPr sz="938"/>
            </a:lvl7pPr>
            <a:lvl8pPr marL="2999475" indent="0">
              <a:buNone/>
              <a:defRPr sz="938"/>
            </a:lvl8pPr>
            <a:lvl9pPr marL="3427972" indent="0">
              <a:buNone/>
              <a:defRPr sz="93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77896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5001" y="4511675"/>
            <a:ext cx="8059375" cy="532629"/>
          </a:xfrm>
        </p:spPr>
        <p:txBody>
          <a:bodyPr anchor="b">
            <a:normAutofit/>
          </a:bodyPr>
          <a:lstStyle>
            <a:lvl1pPr algn="l">
              <a:defRPr sz="225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35001" y="572911"/>
            <a:ext cx="8059376" cy="3614263"/>
          </a:xfrm>
        </p:spPr>
        <p:txBody>
          <a:bodyPr anchor="t">
            <a:normAutofit/>
          </a:bodyPr>
          <a:lstStyle>
            <a:lvl1pPr marL="0" indent="0" algn="ctr">
              <a:buNone/>
              <a:defRPr sz="1500"/>
            </a:lvl1pPr>
            <a:lvl2pPr marL="428625" indent="0">
              <a:buNone/>
              <a:defRPr sz="1500"/>
            </a:lvl2pPr>
            <a:lvl3pPr marL="857250" indent="0">
              <a:buNone/>
              <a:defRPr sz="1500"/>
            </a:lvl3pPr>
            <a:lvl4pPr marL="1285875" indent="0">
              <a:buNone/>
              <a:defRPr sz="1500"/>
            </a:lvl4pPr>
            <a:lvl5pPr marL="1714500" indent="0">
              <a:buNone/>
              <a:defRPr sz="1500"/>
            </a:lvl5pPr>
            <a:lvl6pPr marL="2143125" indent="0">
              <a:buNone/>
              <a:defRPr sz="1500"/>
            </a:lvl6pPr>
            <a:lvl7pPr marL="2571750" indent="0">
              <a:buNone/>
              <a:defRPr sz="1500"/>
            </a:lvl7pPr>
            <a:lvl8pPr marL="3000375" indent="0">
              <a:buNone/>
              <a:defRPr sz="1500"/>
            </a:lvl8pPr>
            <a:lvl9pPr marL="34290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5001" y="5044304"/>
            <a:ext cx="8059375" cy="633458"/>
          </a:xfrm>
        </p:spPr>
        <p:txBody>
          <a:bodyPr>
            <a:normAutofit/>
          </a:bodyPr>
          <a:lstStyle>
            <a:lvl1pPr marL="0" indent="0">
              <a:buNone/>
              <a:defRPr sz="1125"/>
            </a:lvl1pPr>
            <a:lvl2pPr marL="428625" indent="0">
              <a:buNone/>
              <a:defRPr sz="1125"/>
            </a:lvl2pPr>
            <a:lvl3pPr marL="857250" indent="0">
              <a:buNone/>
              <a:defRPr sz="938"/>
            </a:lvl3pPr>
            <a:lvl4pPr marL="1285875" indent="0">
              <a:buNone/>
              <a:defRPr sz="844"/>
            </a:lvl4pPr>
            <a:lvl5pPr marL="1714500" indent="0">
              <a:buNone/>
              <a:defRPr sz="844"/>
            </a:lvl5pPr>
            <a:lvl6pPr marL="2143125" indent="0">
              <a:buNone/>
              <a:defRPr sz="844"/>
            </a:lvl6pPr>
            <a:lvl7pPr marL="2571750" indent="0">
              <a:buNone/>
              <a:defRPr sz="844"/>
            </a:lvl7pPr>
            <a:lvl8pPr marL="3000375" indent="0">
              <a:buNone/>
              <a:defRPr sz="844"/>
            </a:lvl8pPr>
            <a:lvl9pPr marL="3429000" indent="0">
              <a:buNone/>
              <a:defRPr sz="84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52398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5002" y="572911"/>
            <a:ext cx="8059376" cy="3198754"/>
          </a:xfrm>
        </p:spPr>
        <p:txBody>
          <a:bodyPr anchor="ctr">
            <a:normAutofit/>
          </a:bodyPr>
          <a:lstStyle>
            <a:lvl1pPr algn="l">
              <a:defRPr sz="4125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5002" y="4201348"/>
            <a:ext cx="8059376" cy="1476413"/>
          </a:xfrm>
        </p:spPr>
        <p:txBody>
          <a:bodyPr anchor="ctr">
            <a:normAutofit/>
          </a:bodyPr>
          <a:lstStyle>
            <a:lvl1pPr marL="0" indent="0" algn="l">
              <a:buNone/>
              <a:defRPr sz="1688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28625" indent="0">
              <a:buNone/>
              <a:defRPr sz="1688">
                <a:solidFill>
                  <a:schemeClr val="tx1">
                    <a:tint val="75000"/>
                  </a:schemeClr>
                </a:solidFill>
              </a:defRPr>
            </a:lvl2pPr>
            <a:lvl3pPr marL="85725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3pPr>
            <a:lvl4pPr marL="1285875" indent="0">
              <a:buNone/>
              <a:defRPr sz="1313">
                <a:solidFill>
                  <a:schemeClr val="tx1">
                    <a:tint val="75000"/>
                  </a:schemeClr>
                </a:solidFill>
              </a:defRPr>
            </a:lvl4pPr>
            <a:lvl5pPr marL="1714500" indent="0">
              <a:buNone/>
              <a:defRPr sz="1313">
                <a:solidFill>
                  <a:schemeClr val="tx1">
                    <a:tint val="75000"/>
                  </a:schemeClr>
                </a:solidFill>
              </a:defRPr>
            </a:lvl5pPr>
            <a:lvl6pPr marL="2143125" indent="0">
              <a:buNone/>
              <a:defRPr sz="1313">
                <a:solidFill>
                  <a:schemeClr val="tx1">
                    <a:tint val="75000"/>
                  </a:schemeClr>
                </a:solidFill>
              </a:defRPr>
            </a:lvl6pPr>
            <a:lvl7pPr marL="2571750" indent="0">
              <a:buNone/>
              <a:defRPr sz="1313">
                <a:solidFill>
                  <a:schemeClr val="tx1">
                    <a:tint val="75000"/>
                  </a:schemeClr>
                </a:solidFill>
              </a:defRPr>
            </a:lvl7pPr>
            <a:lvl8pPr marL="3000375" indent="0">
              <a:buNone/>
              <a:defRPr sz="1313">
                <a:solidFill>
                  <a:schemeClr val="tx1">
                    <a:tint val="75000"/>
                  </a:schemeClr>
                </a:solidFill>
              </a:defRPr>
            </a:lvl8pPr>
            <a:lvl9pPr marL="3429000" indent="0">
              <a:buNone/>
              <a:defRPr sz="131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14457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3125" y="572911"/>
            <a:ext cx="7588251" cy="2840684"/>
          </a:xfrm>
        </p:spPr>
        <p:txBody>
          <a:bodyPr anchor="ctr">
            <a:normAutofit/>
          </a:bodyPr>
          <a:lstStyle>
            <a:lvl1pPr algn="l">
              <a:defRPr sz="4125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280755" y="3413596"/>
            <a:ext cx="6772991" cy="358069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28625" indent="0">
              <a:buFontTx/>
              <a:buNone/>
              <a:defRPr/>
            </a:lvl2pPr>
            <a:lvl3pPr marL="857250" indent="0">
              <a:buFontTx/>
              <a:buNone/>
              <a:defRPr/>
            </a:lvl3pPr>
            <a:lvl4pPr marL="1285875" indent="0">
              <a:buFontTx/>
              <a:buNone/>
              <a:defRPr/>
            </a:lvl4pPr>
            <a:lvl5pPr marL="17145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5002" y="4201348"/>
            <a:ext cx="8059376" cy="1476413"/>
          </a:xfrm>
        </p:spPr>
        <p:txBody>
          <a:bodyPr anchor="ctr">
            <a:normAutofit/>
          </a:bodyPr>
          <a:lstStyle>
            <a:lvl1pPr marL="0" indent="0" algn="l">
              <a:buNone/>
              <a:defRPr sz="1688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28625" indent="0">
              <a:buNone/>
              <a:defRPr sz="1688">
                <a:solidFill>
                  <a:schemeClr val="tx1">
                    <a:tint val="75000"/>
                  </a:schemeClr>
                </a:solidFill>
              </a:defRPr>
            </a:lvl2pPr>
            <a:lvl3pPr marL="85725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3pPr>
            <a:lvl4pPr marL="1285875" indent="0">
              <a:buNone/>
              <a:defRPr sz="1313">
                <a:solidFill>
                  <a:schemeClr val="tx1">
                    <a:tint val="75000"/>
                  </a:schemeClr>
                </a:solidFill>
              </a:defRPr>
            </a:lvl4pPr>
            <a:lvl5pPr marL="1714500" indent="0">
              <a:buNone/>
              <a:defRPr sz="1313">
                <a:solidFill>
                  <a:schemeClr val="tx1">
                    <a:tint val="75000"/>
                  </a:schemeClr>
                </a:solidFill>
              </a:defRPr>
            </a:lvl5pPr>
            <a:lvl6pPr marL="2143125" indent="0">
              <a:buNone/>
              <a:defRPr sz="1313">
                <a:solidFill>
                  <a:schemeClr val="tx1">
                    <a:tint val="75000"/>
                  </a:schemeClr>
                </a:solidFill>
              </a:defRPr>
            </a:lvl6pPr>
            <a:lvl7pPr marL="2571750" indent="0">
              <a:buNone/>
              <a:defRPr sz="1313">
                <a:solidFill>
                  <a:schemeClr val="tx1">
                    <a:tint val="75000"/>
                  </a:schemeClr>
                </a:solidFill>
              </a:defRPr>
            </a:lvl7pPr>
            <a:lvl8pPr marL="3000375" indent="0">
              <a:buNone/>
              <a:defRPr sz="1313">
                <a:solidFill>
                  <a:schemeClr val="tx1">
                    <a:tint val="75000"/>
                  </a:schemeClr>
                </a:solidFill>
              </a:defRPr>
            </a:lvl8pPr>
            <a:lvl9pPr marL="3429000" indent="0">
              <a:buNone/>
              <a:defRPr sz="131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08003" y="742809"/>
            <a:ext cx="571500" cy="549581"/>
          </a:xfrm>
          <a:prstGeom prst="rect">
            <a:avLst/>
          </a:prstGeom>
        </p:spPr>
        <p:txBody>
          <a:bodyPr vert="horz" lIns="85725" tIns="42863" rIns="85725" bIns="42863" rtlCol="0" anchor="ctr">
            <a:noAutofit/>
          </a:bodyPr>
          <a:lstStyle/>
          <a:p>
            <a:pPr lvl="0"/>
            <a:r>
              <a:rPr lang="en-US" sz="75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37198" y="2712828"/>
            <a:ext cx="571500" cy="549581"/>
          </a:xfrm>
          <a:prstGeom prst="rect">
            <a:avLst/>
          </a:prstGeom>
        </p:spPr>
        <p:txBody>
          <a:bodyPr vert="horz" lIns="85725" tIns="42863" rIns="85725" bIns="42863" rtlCol="0" anchor="ctr">
            <a:noAutofit/>
          </a:bodyPr>
          <a:lstStyle/>
          <a:p>
            <a:pPr lvl="0"/>
            <a:r>
              <a:rPr lang="en-US" sz="75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sz="1688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28540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5002" y="1815711"/>
            <a:ext cx="8059376" cy="2439252"/>
          </a:xfrm>
        </p:spPr>
        <p:txBody>
          <a:bodyPr anchor="b">
            <a:normAutofit/>
          </a:bodyPr>
          <a:lstStyle>
            <a:lvl1pPr algn="l">
              <a:defRPr sz="4125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5002" y="4254963"/>
            <a:ext cx="8059376" cy="1422799"/>
          </a:xfrm>
        </p:spPr>
        <p:txBody>
          <a:bodyPr anchor="t">
            <a:normAutofit/>
          </a:bodyPr>
          <a:lstStyle>
            <a:lvl1pPr marL="0" indent="0" algn="l">
              <a:buNone/>
              <a:defRPr sz="1688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28625" indent="0">
              <a:buNone/>
              <a:defRPr sz="1688">
                <a:solidFill>
                  <a:schemeClr val="tx1">
                    <a:tint val="75000"/>
                  </a:schemeClr>
                </a:solidFill>
              </a:defRPr>
            </a:lvl2pPr>
            <a:lvl3pPr marL="85725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3pPr>
            <a:lvl4pPr marL="1285875" indent="0">
              <a:buNone/>
              <a:defRPr sz="1313">
                <a:solidFill>
                  <a:schemeClr val="tx1">
                    <a:tint val="75000"/>
                  </a:schemeClr>
                </a:solidFill>
              </a:defRPr>
            </a:lvl4pPr>
            <a:lvl5pPr marL="1714500" indent="0">
              <a:buNone/>
              <a:defRPr sz="1313">
                <a:solidFill>
                  <a:schemeClr val="tx1">
                    <a:tint val="75000"/>
                  </a:schemeClr>
                </a:solidFill>
              </a:defRPr>
            </a:lvl5pPr>
            <a:lvl6pPr marL="2143125" indent="0">
              <a:buNone/>
              <a:defRPr sz="1313">
                <a:solidFill>
                  <a:schemeClr val="tx1">
                    <a:tint val="75000"/>
                  </a:schemeClr>
                </a:solidFill>
              </a:defRPr>
            </a:lvl6pPr>
            <a:lvl7pPr marL="2571750" indent="0">
              <a:buNone/>
              <a:defRPr sz="1313">
                <a:solidFill>
                  <a:schemeClr val="tx1">
                    <a:tint val="75000"/>
                  </a:schemeClr>
                </a:solidFill>
              </a:defRPr>
            </a:lvl7pPr>
            <a:lvl8pPr marL="3000375" indent="0">
              <a:buNone/>
              <a:defRPr sz="1313">
                <a:solidFill>
                  <a:schemeClr val="tx1">
                    <a:tint val="75000"/>
                  </a:schemeClr>
                </a:solidFill>
              </a:defRPr>
            </a:lvl8pPr>
            <a:lvl9pPr marL="3429000" indent="0">
              <a:buNone/>
              <a:defRPr sz="131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538803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3125" y="572911"/>
            <a:ext cx="7588251" cy="2840684"/>
          </a:xfrm>
        </p:spPr>
        <p:txBody>
          <a:bodyPr anchor="ctr">
            <a:normAutofit/>
          </a:bodyPr>
          <a:lstStyle>
            <a:lvl1pPr algn="l">
              <a:defRPr sz="4125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34999" y="3771665"/>
            <a:ext cx="8059377" cy="48329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2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28625" indent="0">
              <a:buFontTx/>
              <a:buNone/>
              <a:defRPr/>
            </a:lvl2pPr>
            <a:lvl3pPr marL="857250" indent="0">
              <a:buFontTx/>
              <a:buNone/>
              <a:defRPr/>
            </a:lvl3pPr>
            <a:lvl4pPr marL="1285875" indent="0">
              <a:buFontTx/>
              <a:buNone/>
              <a:defRPr/>
            </a:lvl4pPr>
            <a:lvl5pPr marL="17145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5002" y="4254963"/>
            <a:ext cx="8059376" cy="1422799"/>
          </a:xfrm>
        </p:spPr>
        <p:txBody>
          <a:bodyPr anchor="t">
            <a:normAutofit/>
          </a:bodyPr>
          <a:lstStyle>
            <a:lvl1pPr marL="0" indent="0" algn="l">
              <a:buNone/>
              <a:defRPr sz="1688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28625" indent="0">
              <a:buNone/>
              <a:defRPr sz="1688">
                <a:solidFill>
                  <a:schemeClr val="tx1">
                    <a:tint val="75000"/>
                  </a:schemeClr>
                </a:solidFill>
              </a:defRPr>
            </a:lvl2pPr>
            <a:lvl3pPr marL="85725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3pPr>
            <a:lvl4pPr marL="1285875" indent="0">
              <a:buNone/>
              <a:defRPr sz="1313">
                <a:solidFill>
                  <a:schemeClr val="tx1">
                    <a:tint val="75000"/>
                  </a:schemeClr>
                </a:solidFill>
              </a:defRPr>
            </a:lvl4pPr>
            <a:lvl5pPr marL="1714500" indent="0">
              <a:buNone/>
              <a:defRPr sz="1313">
                <a:solidFill>
                  <a:schemeClr val="tx1">
                    <a:tint val="75000"/>
                  </a:schemeClr>
                </a:solidFill>
              </a:defRPr>
            </a:lvl5pPr>
            <a:lvl6pPr marL="2143125" indent="0">
              <a:buNone/>
              <a:defRPr sz="1313">
                <a:solidFill>
                  <a:schemeClr val="tx1">
                    <a:tint val="75000"/>
                  </a:schemeClr>
                </a:solidFill>
              </a:defRPr>
            </a:lvl6pPr>
            <a:lvl7pPr marL="2571750" indent="0">
              <a:buNone/>
              <a:defRPr sz="1313">
                <a:solidFill>
                  <a:schemeClr val="tx1">
                    <a:tint val="75000"/>
                  </a:schemeClr>
                </a:solidFill>
              </a:defRPr>
            </a:lvl7pPr>
            <a:lvl8pPr marL="3000375" indent="0">
              <a:buNone/>
              <a:defRPr sz="1313">
                <a:solidFill>
                  <a:schemeClr val="tx1">
                    <a:tint val="75000"/>
                  </a:schemeClr>
                </a:solidFill>
              </a:defRPr>
            </a:lvl8pPr>
            <a:lvl9pPr marL="3429000" indent="0">
              <a:buNone/>
              <a:defRPr sz="131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08003" y="742809"/>
            <a:ext cx="571500" cy="549581"/>
          </a:xfrm>
          <a:prstGeom prst="rect">
            <a:avLst/>
          </a:prstGeom>
        </p:spPr>
        <p:txBody>
          <a:bodyPr vert="horz" lIns="85725" tIns="42863" rIns="85725" bIns="42863" rtlCol="0" anchor="ctr">
            <a:noAutofit/>
          </a:bodyPr>
          <a:lstStyle/>
          <a:p>
            <a:pPr lvl="0"/>
            <a:r>
              <a:rPr lang="en-US" sz="75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37198" y="2712828"/>
            <a:ext cx="571500" cy="549581"/>
          </a:xfrm>
          <a:prstGeom prst="rect">
            <a:avLst/>
          </a:prstGeom>
        </p:spPr>
        <p:txBody>
          <a:bodyPr vert="horz" lIns="85725" tIns="42863" rIns="85725" bIns="42863" rtlCol="0" anchor="ctr">
            <a:noAutofit/>
          </a:bodyPr>
          <a:lstStyle/>
          <a:p>
            <a:pPr lvl="0"/>
            <a:r>
              <a:rPr lang="en-US" sz="75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4237884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2937" y="572911"/>
            <a:ext cx="8051440" cy="2840684"/>
          </a:xfrm>
        </p:spPr>
        <p:txBody>
          <a:bodyPr anchor="ctr">
            <a:normAutofit/>
          </a:bodyPr>
          <a:lstStyle>
            <a:lvl1pPr algn="l">
              <a:defRPr sz="4125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34999" y="3771665"/>
            <a:ext cx="8059377" cy="48329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250">
                <a:solidFill>
                  <a:schemeClr val="accent1"/>
                </a:solidFill>
              </a:defRPr>
            </a:lvl1pPr>
            <a:lvl2pPr marL="428625" indent="0">
              <a:buFontTx/>
              <a:buNone/>
              <a:defRPr/>
            </a:lvl2pPr>
            <a:lvl3pPr marL="857250" indent="0">
              <a:buFontTx/>
              <a:buNone/>
              <a:defRPr/>
            </a:lvl3pPr>
            <a:lvl4pPr marL="1285875" indent="0">
              <a:buFontTx/>
              <a:buNone/>
              <a:defRPr/>
            </a:lvl4pPr>
            <a:lvl5pPr marL="17145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5002" y="4254963"/>
            <a:ext cx="8059376" cy="1422799"/>
          </a:xfrm>
        </p:spPr>
        <p:txBody>
          <a:bodyPr anchor="t">
            <a:normAutofit/>
          </a:bodyPr>
          <a:lstStyle>
            <a:lvl1pPr marL="0" indent="0" algn="l">
              <a:buNone/>
              <a:defRPr sz="1688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28625" indent="0">
              <a:buNone/>
              <a:defRPr sz="1688">
                <a:solidFill>
                  <a:schemeClr val="tx1">
                    <a:tint val="75000"/>
                  </a:schemeClr>
                </a:solidFill>
              </a:defRPr>
            </a:lvl2pPr>
            <a:lvl3pPr marL="85725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3pPr>
            <a:lvl4pPr marL="1285875" indent="0">
              <a:buNone/>
              <a:defRPr sz="1313">
                <a:solidFill>
                  <a:schemeClr val="tx1">
                    <a:tint val="75000"/>
                  </a:schemeClr>
                </a:solidFill>
              </a:defRPr>
            </a:lvl4pPr>
            <a:lvl5pPr marL="1714500" indent="0">
              <a:buNone/>
              <a:defRPr sz="1313">
                <a:solidFill>
                  <a:schemeClr val="tx1">
                    <a:tint val="75000"/>
                  </a:schemeClr>
                </a:solidFill>
              </a:defRPr>
            </a:lvl5pPr>
            <a:lvl6pPr marL="2143125" indent="0">
              <a:buNone/>
              <a:defRPr sz="1313">
                <a:solidFill>
                  <a:schemeClr val="tx1">
                    <a:tint val="75000"/>
                  </a:schemeClr>
                </a:solidFill>
              </a:defRPr>
            </a:lvl6pPr>
            <a:lvl7pPr marL="2571750" indent="0">
              <a:buNone/>
              <a:defRPr sz="1313">
                <a:solidFill>
                  <a:schemeClr val="tx1">
                    <a:tint val="75000"/>
                  </a:schemeClr>
                </a:solidFill>
              </a:defRPr>
            </a:lvl7pPr>
            <a:lvl8pPr marL="3000375" indent="0">
              <a:buNone/>
              <a:defRPr sz="1313">
                <a:solidFill>
                  <a:schemeClr val="tx1">
                    <a:tint val="75000"/>
                  </a:schemeClr>
                </a:solidFill>
              </a:defRPr>
            </a:lvl8pPr>
            <a:lvl9pPr marL="3429000" indent="0">
              <a:buNone/>
              <a:defRPr sz="131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913802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490629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469694" y="572911"/>
            <a:ext cx="1223197" cy="493539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35001" y="572911"/>
            <a:ext cx="6618891" cy="493539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839002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1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07466" y="2503519"/>
            <a:ext cx="5916930" cy="5835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50" b="0" i="0">
                <a:solidFill>
                  <a:srgbClr val="010101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714500" y="3609340"/>
            <a:ext cx="8001000" cy="16113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248013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7957"/>
            <a:ext cx="11430000" cy="645320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35001" y="572911"/>
            <a:ext cx="8059376" cy="124130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5001" y="2030554"/>
            <a:ext cx="8059376" cy="36472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54813" y="5677762"/>
            <a:ext cx="854943" cy="343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4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35001" y="5677762"/>
            <a:ext cx="5904011" cy="343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4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53747" y="5677762"/>
            <a:ext cx="640630" cy="343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44">
                <a:solidFill>
                  <a:schemeClr val="accent1"/>
                </a:solidFill>
              </a:defRPr>
            </a:lvl1pPr>
          </a:lstStyle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92100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  <p:sldLayoutId id="2147483717" r:id="rId2"/>
    <p:sldLayoutId id="2147483718" r:id="rId3"/>
    <p:sldLayoutId id="2147483719" r:id="rId4"/>
    <p:sldLayoutId id="2147483720" r:id="rId5"/>
    <p:sldLayoutId id="2147483721" r:id="rId6"/>
    <p:sldLayoutId id="2147483722" r:id="rId7"/>
    <p:sldLayoutId id="2147483723" r:id="rId8"/>
    <p:sldLayoutId id="2147483724" r:id="rId9"/>
    <p:sldLayoutId id="2147483725" r:id="rId10"/>
    <p:sldLayoutId id="2147483726" r:id="rId11"/>
    <p:sldLayoutId id="2147483727" r:id="rId12"/>
    <p:sldLayoutId id="2147483728" r:id="rId13"/>
    <p:sldLayoutId id="2147483729" r:id="rId14"/>
    <p:sldLayoutId id="2147483730" r:id="rId15"/>
    <p:sldLayoutId id="2147483731" r:id="rId16"/>
    <p:sldLayoutId id="2147483732" r:id="rId17"/>
  </p:sldLayoutIdLst>
  <p:txStyles>
    <p:titleStyle>
      <a:lvl1pPr algn="l" defTabSz="428625" rtl="0" eaLnBrk="1" latinLnBrk="0" hangingPunct="1">
        <a:spcBef>
          <a:spcPct val="0"/>
        </a:spcBef>
        <a:buNone/>
        <a:defRPr sz="3375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21469" indent="-321469" algn="l" defTabSz="428625" rtl="0" eaLnBrk="1" latinLnBrk="0" hangingPunct="1">
        <a:spcBef>
          <a:spcPts val="938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88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96516" indent="-267891" algn="l" defTabSz="428625" rtl="0" eaLnBrk="1" latinLnBrk="0" hangingPunct="1">
        <a:spcBef>
          <a:spcPts val="938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5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071563" indent="-214313" algn="l" defTabSz="428625" rtl="0" eaLnBrk="1" latinLnBrk="0" hangingPunct="1">
        <a:spcBef>
          <a:spcPts val="938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313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500188" indent="-214313" algn="l" defTabSz="428625" rtl="0" eaLnBrk="1" latinLnBrk="0" hangingPunct="1">
        <a:spcBef>
          <a:spcPts val="938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125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928813" indent="-214313" algn="l" defTabSz="428625" rtl="0" eaLnBrk="1" latinLnBrk="0" hangingPunct="1">
        <a:spcBef>
          <a:spcPts val="938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125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357438" indent="-214313" algn="l" defTabSz="428625" rtl="0" eaLnBrk="1" latinLnBrk="0" hangingPunct="1">
        <a:spcBef>
          <a:spcPts val="938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125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786063" indent="-214313" algn="l" defTabSz="428625" rtl="0" eaLnBrk="1" latinLnBrk="0" hangingPunct="1">
        <a:spcBef>
          <a:spcPts val="938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125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214688" indent="-214313" algn="l" defTabSz="428625" rtl="0" eaLnBrk="1" latinLnBrk="0" hangingPunct="1">
        <a:spcBef>
          <a:spcPts val="938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125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643313" indent="-214313" algn="l" defTabSz="428625" rtl="0" eaLnBrk="1" latinLnBrk="0" hangingPunct="1">
        <a:spcBef>
          <a:spcPts val="938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125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28625" rtl="0" eaLnBrk="1" latinLnBrk="0" hangingPunct="1">
        <a:defRPr sz="1688" kern="1200">
          <a:solidFill>
            <a:schemeClr val="tx1"/>
          </a:solidFill>
          <a:latin typeface="+mn-lt"/>
          <a:ea typeface="+mn-ea"/>
          <a:cs typeface="+mn-cs"/>
        </a:defRPr>
      </a:lvl1pPr>
      <a:lvl2pPr marL="428625" algn="l" defTabSz="428625" rtl="0" eaLnBrk="1" latinLnBrk="0" hangingPunct="1">
        <a:defRPr sz="1688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algn="l" defTabSz="428625" rtl="0" eaLnBrk="1" latinLnBrk="0" hangingPunct="1">
        <a:defRPr sz="1688" kern="1200">
          <a:solidFill>
            <a:schemeClr val="tx1"/>
          </a:solidFill>
          <a:latin typeface="+mn-lt"/>
          <a:ea typeface="+mn-ea"/>
          <a:cs typeface="+mn-cs"/>
        </a:defRPr>
      </a:lvl3pPr>
      <a:lvl4pPr marL="1285875" algn="l" defTabSz="428625" rtl="0" eaLnBrk="1" latinLnBrk="0" hangingPunct="1">
        <a:defRPr sz="1688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algn="l" defTabSz="428625" rtl="0" eaLnBrk="1" latinLnBrk="0" hangingPunct="1">
        <a:defRPr sz="1688" kern="1200">
          <a:solidFill>
            <a:schemeClr val="tx1"/>
          </a:solidFill>
          <a:latin typeface="+mn-lt"/>
          <a:ea typeface="+mn-ea"/>
          <a:cs typeface="+mn-cs"/>
        </a:defRPr>
      </a:lvl5pPr>
      <a:lvl6pPr marL="2143125" algn="l" defTabSz="428625" rtl="0" eaLnBrk="1" latinLnBrk="0" hangingPunct="1">
        <a:defRPr sz="1688" kern="1200">
          <a:solidFill>
            <a:schemeClr val="tx1"/>
          </a:solidFill>
          <a:latin typeface="+mn-lt"/>
          <a:ea typeface="+mn-ea"/>
          <a:cs typeface="+mn-cs"/>
        </a:defRPr>
      </a:lvl6pPr>
      <a:lvl7pPr marL="2571750" algn="l" defTabSz="428625" rtl="0" eaLnBrk="1" latinLnBrk="0" hangingPunct="1">
        <a:defRPr sz="1688" kern="1200">
          <a:solidFill>
            <a:schemeClr val="tx1"/>
          </a:solidFill>
          <a:latin typeface="+mn-lt"/>
          <a:ea typeface="+mn-ea"/>
          <a:cs typeface="+mn-cs"/>
        </a:defRPr>
      </a:lvl7pPr>
      <a:lvl8pPr marL="3000375" algn="l" defTabSz="428625" rtl="0" eaLnBrk="1" latinLnBrk="0" hangingPunct="1">
        <a:defRPr sz="1688" kern="1200">
          <a:solidFill>
            <a:schemeClr val="tx1"/>
          </a:solidFill>
          <a:latin typeface="+mn-lt"/>
          <a:ea typeface="+mn-ea"/>
          <a:cs typeface="+mn-cs"/>
        </a:defRPr>
      </a:lvl8pPr>
      <a:lvl9pPr marL="3429000" algn="l" defTabSz="428625" rtl="0" eaLnBrk="1" latinLnBrk="0" hangingPunct="1">
        <a:defRPr sz="168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3650" dirty="0"/>
              <a:t>Food</a:t>
            </a:r>
            <a:r>
              <a:rPr sz="3650" spc="-60" dirty="0"/>
              <a:t> </a:t>
            </a:r>
            <a:r>
              <a:rPr sz="3650" dirty="0"/>
              <a:t>Delivery</a:t>
            </a:r>
            <a:r>
              <a:rPr sz="3650" spc="-50" dirty="0"/>
              <a:t> </a:t>
            </a:r>
            <a:r>
              <a:rPr sz="3650" dirty="0"/>
              <a:t>Time</a:t>
            </a:r>
            <a:r>
              <a:rPr sz="3650" spc="-125" dirty="0"/>
              <a:t> </a:t>
            </a:r>
            <a:r>
              <a:rPr sz="3650" spc="-10" dirty="0"/>
              <a:t>Analysis</a:t>
            </a:r>
            <a:endParaRPr sz="3650"/>
          </a:p>
        </p:txBody>
      </p:sp>
      <p:sp>
        <p:nvSpPr>
          <p:cNvPr id="3" name="object 3"/>
          <p:cNvSpPr txBox="1"/>
          <p:nvPr/>
        </p:nvSpPr>
        <p:spPr>
          <a:xfrm>
            <a:off x="607466" y="3299333"/>
            <a:ext cx="5679440" cy="5778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9500"/>
              </a:lnSpc>
              <a:spcBef>
                <a:spcPts val="100"/>
              </a:spcBef>
            </a:pPr>
            <a:r>
              <a:rPr sz="1400" dirty="0">
                <a:solidFill>
                  <a:srgbClr val="373737"/>
                </a:solidFill>
                <a:latin typeface="Tahoma"/>
                <a:cs typeface="Tahoma"/>
              </a:rPr>
              <a:t>Data</a:t>
            </a:r>
            <a:r>
              <a:rPr sz="1400" spc="105" dirty="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373737"/>
                </a:solidFill>
                <a:latin typeface="Tahoma"/>
                <a:cs typeface="Tahoma"/>
              </a:rPr>
              <a:t>visualization</a:t>
            </a:r>
            <a:r>
              <a:rPr sz="1400" spc="105" dirty="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sz="1400" spc="80" dirty="0">
                <a:solidFill>
                  <a:srgbClr val="373737"/>
                </a:solidFill>
                <a:latin typeface="Tahoma"/>
                <a:cs typeface="Tahoma"/>
              </a:rPr>
              <a:t>&amp;</a:t>
            </a:r>
            <a:r>
              <a:rPr sz="1400" spc="105" dirty="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373737"/>
                </a:solidFill>
                <a:latin typeface="Tahoma"/>
                <a:cs typeface="Tahoma"/>
              </a:rPr>
              <a:t>insights</a:t>
            </a:r>
            <a:r>
              <a:rPr sz="1400" spc="105" dirty="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sz="1400" spc="60" dirty="0">
                <a:solidFill>
                  <a:srgbClr val="373737"/>
                </a:solidFill>
                <a:latin typeface="Tahoma"/>
                <a:cs typeface="Tahoma"/>
              </a:rPr>
              <a:t>to</a:t>
            </a:r>
            <a:r>
              <a:rPr sz="1400" spc="105" dirty="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373737"/>
                </a:solidFill>
                <a:latin typeface="Tahoma"/>
                <a:cs typeface="Tahoma"/>
              </a:rPr>
              <a:t>optimize</a:t>
            </a:r>
            <a:r>
              <a:rPr sz="1400" spc="105" dirty="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373737"/>
                </a:solidFill>
                <a:latin typeface="Tahoma"/>
                <a:cs typeface="Tahoma"/>
              </a:rPr>
              <a:t>speed,</a:t>
            </a:r>
            <a:r>
              <a:rPr sz="1400" spc="105" dirty="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373737"/>
                </a:solidFill>
                <a:latin typeface="Tahoma"/>
                <a:cs typeface="Tahoma"/>
              </a:rPr>
              <a:t>satisfaction,</a:t>
            </a:r>
            <a:r>
              <a:rPr sz="1400" spc="105" dirty="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373737"/>
                </a:solidFill>
                <a:latin typeface="Tahoma"/>
                <a:cs typeface="Tahoma"/>
              </a:rPr>
              <a:t>and</a:t>
            </a:r>
            <a:r>
              <a:rPr sz="1400" spc="105" dirty="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sz="1400" spc="-10" dirty="0">
                <a:solidFill>
                  <a:srgbClr val="373737"/>
                </a:solidFill>
                <a:latin typeface="Tahoma"/>
                <a:cs typeface="Tahoma"/>
              </a:rPr>
              <a:t>fleet performance</a:t>
            </a:r>
            <a:endParaRPr sz="1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1031" rIns="0" bIns="0" rtlCol="0">
            <a:spAutoFit/>
          </a:bodyPr>
          <a:lstStyle/>
          <a:p>
            <a:pPr marL="31750">
              <a:lnSpc>
                <a:spcPct val="100000"/>
              </a:lnSpc>
              <a:spcBef>
                <a:spcPts val="110"/>
              </a:spcBef>
            </a:pPr>
            <a:r>
              <a:rPr sz="3100" dirty="0"/>
              <a:t>Delivery</a:t>
            </a:r>
            <a:r>
              <a:rPr sz="3100" spc="5" dirty="0"/>
              <a:t> </a:t>
            </a:r>
            <a:r>
              <a:rPr sz="3100" dirty="0"/>
              <a:t>Time</a:t>
            </a:r>
            <a:r>
              <a:rPr sz="3100" spc="5" dirty="0"/>
              <a:t> </a:t>
            </a:r>
            <a:r>
              <a:rPr sz="3100" spc="-10" dirty="0"/>
              <a:t>Distribution</a:t>
            </a:r>
            <a:endParaRPr sz="31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4900" y="1419224"/>
            <a:ext cx="5524499" cy="4286249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7515223" y="3286124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6" y="47020"/>
                </a:lnTo>
                <a:lnTo>
                  <a:pt x="0" y="26970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7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3737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7515223" y="3771899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6" y="47020"/>
                </a:lnTo>
                <a:lnTo>
                  <a:pt x="0" y="26969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69"/>
                </a:lnTo>
                <a:lnTo>
                  <a:pt x="26970" y="47624"/>
                </a:lnTo>
                <a:close/>
              </a:path>
            </a:pathLst>
          </a:custGeom>
          <a:solidFill>
            <a:srgbClr val="3737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515223" y="4267199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6" y="47020"/>
                </a:lnTo>
                <a:lnTo>
                  <a:pt x="0" y="26969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69"/>
                </a:lnTo>
                <a:lnTo>
                  <a:pt x="26970" y="47624"/>
                </a:lnTo>
                <a:close/>
              </a:path>
            </a:pathLst>
          </a:custGeom>
          <a:solidFill>
            <a:srgbClr val="3737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7479010" y="2799556"/>
            <a:ext cx="3268979" cy="15773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550" dirty="0">
                <a:solidFill>
                  <a:srgbClr val="010101"/>
                </a:solidFill>
                <a:latin typeface="Georgia"/>
                <a:cs typeface="Georgia"/>
              </a:rPr>
              <a:t>What</a:t>
            </a:r>
            <a:r>
              <a:rPr sz="1550" spc="35" dirty="0">
                <a:solidFill>
                  <a:srgbClr val="010101"/>
                </a:solidFill>
                <a:latin typeface="Georgia"/>
                <a:cs typeface="Georgia"/>
              </a:rPr>
              <a:t> </a:t>
            </a:r>
            <a:r>
              <a:rPr sz="1550" dirty="0">
                <a:solidFill>
                  <a:srgbClr val="010101"/>
                </a:solidFill>
                <a:latin typeface="Georgia"/>
                <a:cs typeface="Georgia"/>
              </a:rPr>
              <a:t>the</a:t>
            </a:r>
            <a:r>
              <a:rPr sz="1550" spc="35" dirty="0">
                <a:solidFill>
                  <a:srgbClr val="010101"/>
                </a:solidFill>
                <a:latin typeface="Georgia"/>
                <a:cs typeface="Georgia"/>
              </a:rPr>
              <a:t> </a:t>
            </a:r>
            <a:r>
              <a:rPr sz="1550" dirty="0">
                <a:solidFill>
                  <a:srgbClr val="010101"/>
                </a:solidFill>
                <a:latin typeface="Georgia"/>
                <a:cs typeface="Georgia"/>
              </a:rPr>
              <a:t>spread</a:t>
            </a:r>
            <a:r>
              <a:rPr sz="1550" spc="35" dirty="0">
                <a:solidFill>
                  <a:srgbClr val="010101"/>
                </a:solidFill>
                <a:latin typeface="Georgia"/>
                <a:cs typeface="Georgia"/>
              </a:rPr>
              <a:t> </a:t>
            </a:r>
            <a:r>
              <a:rPr sz="1550" dirty="0">
                <a:solidFill>
                  <a:srgbClr val="010101"/>
                </a:solidFill>
                <a:latin typeface="Georgia"/>
                <a:cs typeface="Georgia"/>
              </a:rPr>
              <a:t>tells</a:t>
            </a:r>
            <a:r>
              <a:rPr sz="1550" spc="35" dirty="0">
                <a:solidFill>
                  <a:srgbClr val="010101"/>
                </a:solidFill>
                <a:latin typeface="Georgia"/>
                <a:cs typeface="Georgia"/>
              </a:rPr>
              <a:t> </a:t>
            </a:r>
            <a:r>
              <a:rPr sz="1550" spc="-25" dirty="0">
                <a:solidFill>
                  <a:srgbClr val="010101"/>
                </a:solidFill>
                <a:latin typeface="Georgia"/>
                <a:cs typeface="Georgia"/>
              </a:rPr>
              <a:t>us</a:t>
            </a:r>
            <a:endParaRPr sz="1550">
              <a:latin typeface="Georgia"/>
              <a:cs typeface="Georgia"/>
            </a:endParaRPr>
          </a:p>
          <a:p>
            <a:pPr marL="253365" marR="273685">
              <a:lnSpc>
                <a:spcPct val="125000"/>
              </a:lnSpc>
              <a:spcBef>
                <a:spcPts val="894"/>
              </a:spcBef>
            </a:pPr>
            <a:r>
              <a:rPr sz="1150" spc="70" dirty="0">
                <a:solidFill>
                  <a:srgbClr val="373737"/>
                </a:solidFill>
                <a:latin typeface="Tahoma"/>
                <a:cs typeface="Tahoma"/>
              </a:rPr>
              <a:t>Most</a:t>
            </a:r>
            <a:r>
              <a:rPr sz="1150" spc="10" dirty="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sz="1150" spc="20" dirty="0">
                <a:solidFill>
                  <a:srgbClr val="373737"/>
                </a:solidFill>
                <a:latin typeface="Tahoma"/>
                <a:cs typeface="Tahoma"/>
              </a:rPr>
              <a:t>deliveries</a:t>
            </a:r>
            <a:r>
              <a:rPr sz="1150" spc="10" dirty="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sz="1150" spc="50" dirty="0">
                <a:solidFill>
                  <a:srgbClr val="373737"/>
                </a:solidFill>
                <a:latin typeface="Tahoma"/>
                <a:cs typeface="Tahoma"/>
              </a:rPr>
              <a:t>cluster</a:t>
            </a:r>
            <a:r>
              <a:rPr sz="1150" spc="10" dirty="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sz="1150" spc="20" dirty="0">
                <a:solidFill>
                  <a:srgbClr val="373737"/>
                </a:solidFill>
                <a:latin typeface="Tahoma"/>
                <a:cs typeface="Tahoma"/>
              </a:rPr>
              <a:t>in</a:t>
            </a:r>
            <a:r>
              <a:rPr sz="1150" spc="10" dirty="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sz="1150" spc="20" dirty="0">
                <a:solidFill>
                  <a:srgbClr val="373737"/>
                </a:solidFill>
                <a:latin typeface="Tahoma"/>
                <a:cs typeface="Tahoma"/>
              </a:rPr>
              <a:t>a</a:t>
            </a:r>
            <a:r>
              <a:rPr sz="1150" spc="15" dirty="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sz="1150" spc="50" dirty="0">
                <a:solidFill>
                  <a:srgbClr val="373737"/>
                </a:solidFill>
                <a:latin typeface="Tahoma"/>
                <a:cs typeface="Tahoma"/>
              </a:rPr>
              <a:t>central</a:t>
            </a:r>
            <a:r>
              <a:rPr sz="1150" spc="10" dirty="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sz="1150" spc="35" dirty="0">
                <a:solidFill>
                  <a:srgbClr val="373737"/>
                </a:solidFill>
                <a:latin typeface="Tahoma"/>
                <a:cs typeface="Tahoma"/>
              </a:rPr>
              <a:t>time </a:t>
            </a:r>
            <a:r>
              <a:rPr sz="1150" spc="-10" dirty="0">
                <a:solidFill>
                  <a:srgbClr val="373737"/>
                </a:solidFill>
                <a:latin typeface="Tahoma"/>
                <a:cs typeface="Tahoma"/>
              </a:rPr>
              <a:t>range</a:t>
            </a:r>
            <a:endParaRPr sz="1150">
              <a:latin typeface="Tahoma"/>
              <a:cs typeface="Tahoma"/>
            </a:endParaRPr>
          </a:p>
          <a:p>
            <a:pPr marL="253365" marR="336550">
              <a:lnSpc>
                <a:spcPct val="130400"/>
              </a:lnSpc>
              <a:spcBef>
                <a:spcPts val="300"/>
              </a:spcBef>
            </a:pPr>
            <a:r>
              <a:rPr sz="1150" spc="10" dirty="0">
                <a:solidFill>
                  <a:srgbClr val="373737"/>
                </a:solidFill>
                <a:latin typeface="Tahoma"/>
                <a:cs typeface="Tahoma"/>
              </a:rPr>
              <a:t>Long</a:t>
            </a:r>
            <a:r>
              <a:rPr sz="1150" spc="80" dirty="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sz="1150" spc="10" dirty="0">
                <a:solidFill>
                  <a:srgbClr val="373737"/>
                </a:solidFill>
                <a:latin typeface="Tahoma"/>
                <a:cs typeface="Tahoma"/>
              </a:rPr>
              <a:t>tail</a:t>
            </a:r>
            <a:r>
              <a:rPr sz="1150" spc="85" dirty="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sz="1150" spc="50" dirty="0">
                <a:solidFill>
                  <a:srgbClr val="373737"/>
                </a:solidFill>
                <a:latin typeface="Tahoma"/>
                <a:cs typeface="Tahoma"/>
              </a:rPr>
              <a:t>of</a:t>
            </a:r>
            <a:r>
              <a:rPr sz="1150" spc="85" dirty="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sz="1150" spc="10" dirty="0">
                <a:solidFill>
                  <a:srgbClr val="373737"/>
                </a:solidFill>
                <a:latin typeface="Tahoma"/>
                <a:cs typeface="Tahoma"/>
              </a:rPr>
              <a:t>outliers</a:t>
            </a:r>
            <a:r>
              <a:rPr sz="1150" spc="85" dirty="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sz="1150" spc="10" dirty="0">
                <a:solidFill>
                  <a:srgbClr val="373737"/>
                </a:solidFill>
                <a:latin typeface="Tahoma"/>
                <a:cs typeface="Tahoma"/>
              </a:rPr>
              <a:t>signals</a:t>
            </a:r>
            <a:r>
              <a:rPr sz="1150" spc="85" dirty="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sz="1150" spc="35" dirty="0">
                <a:solidFill>
                  <a:srgbClr val="373737"/>
                </a:solidFill>
                <a:latin typeface="Tahoma"/>
                <a:cs typeface="Tahoma"/>
              </a:rPr>
              <a:t>operational friction</a:t>
            </a:r>
            <a:endParaRPr sz="1150">
              <a:latin typeface="Tahoma"/>
              <a:cs typeface="Tahoma"/>
            </a:endParaRPr>
          </a:p>
          <a:p>
            <a:pPr marL="253365">
              <a:lnSpc>
                <a:spcPct val="100000"/>
              </a:lnSpc>
              <a:spcBef>
                <a:spcPts val="720"/>
              </a:spcBef>
            </a:pPr>
            <a:r>
              <a:rPr sz="1150" spc="10" dirty="0">
                <a:solidFill>
                  <a:srgbClr val="373737"/>
                </a:solidFill>
                <a:latin typeface="Tahoma"/>
                <a:cs typeface="Tahoma"/>
              </a:rPr>
              <a:t>Identify</a:t>
            </a:r>
            <a:r>
              <a:rPr sz="1150" spc="40" dirty="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sz="1150" spc="50" dirty="0">
                <a:solidFill>
                  <a:srgbClr val="373737"/>
                </a:solidFill>
                <a:latin typeface="Tahoma"/>
                <a:cs typeface="Tahoma"/>
              </a:rPr>
              <a:t>peak</a:t>
            </a:r>
            <a:r>
              <a:rPr sz="1150" spc="45" dirty="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sz="1150" dirty="0">
                <a:solidFill>
                  <a:srgbClr val="373737"/>
                </a:solidFill>
                <a:latin typeface="Tahoma"/>
                <a:cs typeface="Tahoma"/>
              </a:rPr>
              <a:t>vs.</a:t>
            </a:r>
            <a:r>
              <a:rPr sz="1150" spc="45" dirty="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sz="1150" spc="90" dirty="0">
                <a:solidFill>
                  <a:srgbClr val="373737"/>
                </a:solidFill>
                <a:latin typeface="Tahoma"/>
                <a:cs typeface="Tahoma"/>
              </a:rPr>
              <a:t>off-</a:t>
            </a:r>
            <a:r>
              <a:rPr sz="1150" spc="50" dirty="0">
                <a:solidFill>
                  <a:srgbClr val="373737"/>
                </a:solidFill>
                <a:latin typeface="Tahoma"/>
                <a:cs typeface="Tahoma"/>
              </a:rPr>
              <a:t>peak</a:t>
            </a:r>
            <a:r>
              <a:rPr sz="1150" spc="45" dirty="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sz="1150" spc="10" dirty="0">
                <a:solidFill>
                  <a:srgbClr val="373737"/>
                </a:solidFill>
                <a:latin typeface="Tahoma"/>
                <a:cs typeface="Tahoma"/>
              </a:rPr>
              <a:t>delivery</a:t>
            </a:r>
            <a:r>
              <a:rPr sz="1150" spc="45" dirty="0">
                <a:solidFill>
                  <a:srgbClr val="373737"/>
                </a:solidFill>
                <a:latin typeface="Tahoma"/>
                <a:cs typeface="Tahoma"/>
              </a:rPr>
              <a:t> patterns</a:t>
            </a:r>
            <a:endParaRPr sz="11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1750">
              <a:lnSpc>
                <a:spcPct val="100000"/>
              </a:lnSpc>
              <a:spcBef>
                <a:spcPts val="110"/>
              </a:spcBef>
            </a:pPr>
            <a:r>
              <a:rPr sz="3100" dirty="0"/>
              <a:t>Age</a:t>
            </a:r>
            <a:r>
              <a:rPr sz="3100" spc="25" dirty="0"/>
              <a:t> </a:t>
            </a:r>
            <a:r>
              <a:rPr sz="3100" dirty="0"/>
              <a:t>vs.</a:t>
            </a:r>
            <a:r>
              <a:rPr sz="3100" spc="-95" dirty="0"/>
              <a:t> </a:t>
            </a:r>
            <a:r>
              <a:rPr sz="3100" dirty="0"/>
              <a:t>Delivery</a:t>
            </a:r>
            <a:r>
              <a:rPr sz="3100" spc="30" dirty="0"/>
              <a:t> </a:t>
            </a:r>
            <a:r>
              <a:rPr sz="3100" spc="-20" dirty="0"/>
              <a:t>Time</a:t>
            </a:r>
            <a:endParaRPr sz="3100"/>
          </a:p>
        </p:txBody>
      </p:sp>
      <p:grpSp>
        <p:nvGrpSpPr>
          <p:cNvPr id="3" name="object 3"/>
          <p:cNvGrpSpPr/>
          <p:nvPr/>
        </p:nvGrpSpPr>
        <p:grpSpPr>
          <a:xfrm>
            <a:off x="619124" y="3743324"/>
            <a:ext cx="3324225" cy="809625"/>
            <a:chOff x="619124" y="3743324"/>
            <a:chExt cx="3324225" cy="809625"/>
          </a:xfrm>
        </p:grpSpPr>
        <p:sp>
          <p:nvSpPr>
            <p:cNvPr id="4" name="object 4"/>
            <p:cNvSpPr/>
            <p:nvPr/>
          </p:nvSpPr>
          <p:spPr>
            <a:xfrm>
              <a:off x="619124" y="3743324"/>
              <a:ext cx="3324225" cy="809625"/>
            </a:xfrm>
            <a:custGeom>
              <a:avLst/>
              <a:gdLst/>
              <a:ahLst/>
              <a:cxnLst/>
              <a:rect l="l" t="t" r="r" b="b"/>
              <a:pathLst>
                <a:path w="3324225" h="809625">
                  <a:moveTo>
                    <a:pt x="3307892" y="809624"/>
                  </a:moveTo>
                  <a:lnTo>
                    <a:pt x="16331" y="809624"/>
                  </a:lnTo>
                  <a:lnTo>
                    <a:pt x="13929" y="809146"/>
                  </a:lnTo>
                  <a:lnTo>
                    <a:pt x="0" y="793293"/>
                  </a:lnTo>
                  <a:lnTo>
                    <a:pt x="0" y="790796"/>
                  </a:lnTo>
                  <a:lnTo>
                    <a:pt x="0" y="16331"/>
                  </a:lnTo>
                  <a:lnTo>
                    <a:pt x="16331" y="0"/>
                  </a:lnTo>
                  <a:lnTo>
                    <a:pt x="3307892" y="0"/>
                  </a:lnTo>
                  <a:lnTo>
                    <a:pt x="3324224" y="16331"/>
                  </a:lnTo>
                  <a:lnTo>
                    <a:pt x="3324224" y="793293"/>
                  </a:lnTo>
                  <a:lnTo>
                    <a:pt x="3310294" y="809146"/>
                  </a:lnTo>
                  <a:lnTo>
                    <a:pt x="3307892" y="809624"/>
                  </a:lnTo>
                  <a:close/>
                </a:path>
              </a:pathLst>
            </a:custGeom>
            <a:solidFill>
              <a:srgbClr val="FFCCB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9765" y="3971813"/>
              <a:ext cx="131787" cy="131787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607466" y="2542381"/>
            <a:ext cx="3322320" cy="179641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550" dirty="0">
                <a:solidFill>
                  <a:srgbClr val="010101"/>
                </a:solidFill>
                <a:latin typeface="Georgia"/>
                <a:cs typeface="Georgia"/>
              </a:rPr>
              <a:t>Customer</a:t>
            </a:r>
            <a:r>
              <a:rPr sz="1550" spc="50" dirty="0">
                <a:solidFill>
                  <a:srgbClr val="010101"/>
                </a:solidFill>
                <a:latin typeface="Georgia"/>
                <a:cs typeface="Georgia"/>
              </a:rPr>
              <a:t> </a:t>
            </a:r>
            <a:r>
              <a:rPr sz="1550" dirty="0">
                <a:solidFill>
                  <a:srgbClr val="010101"/>
                </a:solidFill>
                <a:latin typeface="Georgia"/>
                <a:cs typeface="Georgia"/>
              </a:rPr>
              <a:t>segment</a:t>
            </a:r>
            <a:r>
              <a:rPr sz="1550" spc="50" dirty="0">
                <a:solidFill>
                  <a:srgbClr val="010101"/>
                </a:solidFill>
                <a:latin typeface="Georgia"/>
                <a:cs typeface="Georgia"/>
              </a:rPr>
              <a:t> </a:t>
            </a:r>
            <a:r>
              <a:rPr sz="1550" spc="-10" dirty="0">
                <a:solidFill>
                  <a:srgbClr val="010101"/>
                </a:solidFill>
                <a:latin typeface="Georgia"/>
                <a:cs typeface="Georgia"/>
              </a:rPr>
              <a:t>insight</a:t>
            </a:r>
            <a:endParaRPr sz="1550">
              <a:latin typeface="Georgia"/>
              <a:cs typeface="Georgia"/>
            </a:endParaRPr>
          </a:p>
          <a:p>
            <a:pPr marL="12700" marR="5080">
              <a:lnSpc>
                <a:spcPct val="127699"/>
              </a:lnSpc>
              <a:spcBef>
                <a:spcPts val="855"/>
              </a:spcBef>
            </a:pPr>
            <a:r>
              <a:rPr sz="1150" dirty="0">
                <a:solidFill>
                  <a:srgbClr val="373737"/>
                </a:solidFill>
                <a:latin typeface="Tahoma"/>
                <a:cs typeface="Tahoma"/>
              </a:rPr>
              <a:t>Delivery</a:t>
            </a:r>
            <a:r>
              <a:rPr sz="1150" spc="70" dirty="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sz="1150" spc="55" dirty="0">
                <a:solidFill>
                  <a:srgbClr val="373737"/>
                </a:solidFill>
                <a:latin typeface="Tahoma"/>
                <a:cs typeface="Tahoma"/>
              </a:rPr>
              <a:t>expectations</a:t>
            </a:r>
            <a:r>
              <a:rPr sz="1150" spc="70" dirty="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sz="1150" spc="60" dirty="0">
                <a:solidFill>
                  <a:srgbClr val="373737"/>
                </a:solidFill>
                <a:latin typeface="Tahoma"/>
                <a:cs typeface="Tahoma"/>
              </a:rPr>
              <a:t>may</a:t>
            </a:r>
            <a:r>
              <a:rPr sz="1150" spc="70" dirty="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sz="1150" dirty="0">
                <a:solidFill>
                  <a:srgbClr val="373737"/>
                </a:solidFill>
                <a:latin typeface="Tahoma"/>
                <a:cs typeface="Tahoma"/>
              </a:rPr>
              <a:t>vary</a:t>
            </a:r>
            <a:r>
              <a:rPr sz="1150" spc="70" dirty="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sz="1150" spc="65" dirty="0">
                <a:solidFill>
                  <a:srgbClr val="373737"/>
                </a:solidFill>
                <a:latin typeface="Tahoma"/>
                <a:cs typeface="Tahoma"/>
              </a:rPr>
              <a:t>by</a:t>
            </a:r>
            <a:r>
              <a:rPr sz="1150" spc="75" dirty="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sz="1150" dirty="0">
                <a:solidFill>
                  <a:srgbClr val="373737"/>
                </a:solidFill>
                <a:latin typeface="Tahoma"/>
                <a:cs typeface="Tahoma"/>
              </a:rPr>
              <a:t>age</a:t>
            </a:r>
            <a:r>
              <a:rPr sz="1150" spc="70" dirty="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sz="1150" dirty="0">
                <a:solidFill>
                  <a:srgbClr val="373737"/>
                </a:solidFill>
                <a:latin typeface="Tahoma"/>
                <a:cs typeface="Tahoma"/>
              </a:rPr>
              <a:t>group</a:t>
            </a:r>
            <a:r>
              <a:rPr sz="1150" spc="70" dirty="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sz="1150" spc="-50" dirty="0">
                <a:solidFill>
                  <a:srgbClr val="373737"/>
                </a:solidFill>
                <a:latin typeface="Tahoma"/>
                <a:cs typeface="Tahoma"/>
              </a:rPr>
              <a:t>— </a:t>
            </a:r>
            <a:r>
              <a:rPr sz="1150" spc="45" dirty="0">
                <a:solidFill>
                  <a:srgbClr val="373737"/>
                </a:solidFill>
                <a:latin typeface="Tahoma"/>
                <a:cs typeface="Tahoma"/>
              </a:rPr>
              <a:t>understanding</a:t>
            </a:r>
            <a:r>
              <a:rPr sz="1150" spc="-30" dirty="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sz="1150" spc="60" dirty="0">
                <a:solidFill>
                  <a:srgbClr val="373737"/>
                </a:solidFill>
                <a:latin typeface="Tahoma"/>
                <a:cs typeface="Tahoma"/>
              </a:rPr>
              <a:t>these</a:t>
            </a:r>
            <a:r>
              <a:rPr sz="1150" spc="-30" dirty="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sz="1150" spc="55" dirty="0">
                <a:solidFill>
                  <a:srgbClr val="373737"/>
                </a:solidFill>
                <a:latin typeface="Tahoma"/>
                <a:cs typeface="Tahoma"/>
              </a:rPr>
              <a:t>patterns</a:t>
            </a:r>
            <a:r>
              <a:rPr sz="1150" spc="-25" dirty="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sz="1150" spc="50" dirty="0">
                <a:solidFill>
                  <a:srgbClr val="373737"/>
                </a:solidFill>
                <a:latin typeface="Tahoma"/>
                <a:cs typeface="Tahoma"/>
              </a:rPr>
              <a:t>helps</a:t>
            </a:r>
            <a:r>
              <a:rPr sz="1150" spc="-30" dirty="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sz="1150" spc="-10" dirty="0">
                <a:solidFill>
                  <a:srgbClr val="373737"/>
                </a:solidFill>
                <a:latin typeface="Tahoma"/>
                <a:cs typeface="Tahoma"/>
              </a:rPr>
              <a:t>tailor </a:t>
            </a:r>
            <a:r>
              <a:rPr sz="1150" spc="60" dirty="0">
                <a:solidFill>
                  <a:srgbClr val="373737"/>
                </a:solidFill>
                <a:latin typeface="Tahoma"/>
                <a:cs typeface="Tahoma"/>
              </a:rPr>
              <a:t>service</a:t>
            </a:r>
            <a:r>
              <a:rPr sz="1150" spc="25" dirty="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sz="1150" dirty="0">
                <a:solidFill>
                  <a:srgbClr val="373737"/>
                </a:solidFill>
                <a:latin typeface="Tahoma"/>
                <a:cs typeface="Tahoma"/>
              </a:rPr>
              <a:t>levels</a:t>
            </a:r>
            <a:r>
              <a:rPr sz="1150" spc="30" dirty="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sz="1150" spc="55" dirty="0">
                <a:solidFill>
                  <a:srgbClr val="373737"/>
                </a:solidFill>
                <a:latin typeface="Tahoma"/>
                <a:cs typeface="Tahoma"/>
              </a:rPr>
              <a:t>and</a:t>
            </a:r>
            <a:r>
              <a:rPr sz="1150" spc="30" dirty="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sz="1150" spc="40" dirty="0">
                <a:solidFill>
                  <a:srgbClr val="373737"/>
                </a:solidFill>
                <a:latin typeface="Tahoma"/>
                <a:cs typeface="Tahoma"/>
              </a:rPr>
              <a:t>communication.</a:t>
            </a:r>
            <a:endParaRPr sz="11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090"/>
              </a:spcBef>
            </a:pPr>
            <a:endParaRPr sz="1150">
              <a:latin typeface="Tahoma"/>
              <a:cs typeface="Tahoma"/>
            </a:endParaRPr>
          </a:p>
          <a:p>
            <a:pPr marL="501650" marR="151765">
              <a:lnSpc>
                <a:spcPct val="125000"/>
              </a:lnSpc>
            </a:pPr>
            <a:r>
              <a:rPr sz="1150" dirty="0">
                <a:latin typeface="Tahoma"/>
                <a:cs typeface="Tahoma"/>
              </a:rPr>
              <a:t>Look</a:t>
            </a:r>
            <a:r>
              <a:rPr sz="1150" spc="65" dirty="0">
                <a:latin typeface="Tahoma"/>
                <a:cs typeface="Tahoma"/>
              </a:rPr>
              <a:t> </a:t>
            </a:r>
            <a:r>
              <a:rPr sz="1150" dirty="0">
                <a:latin typeface="Tahoma"/>
                <a:cs typeface="Tahoma"/>
              </a:rPr>
              <a:t>for</a:t>
            </a:r>
            <a:r>
              <a:rPr sz="1150" spc="65" dirty="0">
                <a:latin typeface="Tahoma"/>
                <a:cs typeface="Tahoma"/>
              </a:rPr>
              <a:t> </a:t>
            </a:r>
            <a:r>
              <a:rPr sz="1150" dirty="0">
                <a:latin typeface="Tahoma"/>
                <a:cs typeface="Tahoma"/>
              </a:rPr>
              <a:t>age</a:t>
            </a:r>
            <a:r>
              <a:rPr sz="1150" spc="65" dirty="0">
                <a:latin typeface="Tahoma"/>
                <a:cs typeface="Tahoma"/>
              </a:rPr>
              <a:t> </a:t>
            </a:r>
            <a:r>
              <a:rPr sz="1150" spc="70" dirty="0">
                <a:latin typeface="Tahoma"/>
                <a:cs typeface="Tahoma"/>
              </a:rPr>
              <a:t>cohorts</a:t>
            </a:r>
            <a:r>
              <a:rPr sz="1150" spc="65" dirty="0">
                <a:latin typeface="Tahoma"/>
                <a:cs typeface="Tahoma"/>
              </a:rPr>
              <a:t> </a:t>
            </a:r>
            <a:r>
              <a:rPr sz="1150" dirty="0">
                <a:latin typeface="Tahoma"/>
                <a:cs typeface="Tahoma"/>
              </a:rPr>
              <a:t>with</a:t>
            </a:r>
            <a:r>
              <a:rPr sz="1150" spc="70" dirty="0">
                <a:latin typeface="Tahoma"/>
                <a:cs typeface="Tahoma"/>
              </a:rPr>
              <a:t> </a:t>
            </a:r>
            <a:r>
              <a:rPr sz="1150" spc="45" dirty="0">
                <a:latin typeface="Tahoma"/>
                <a:cs typeface="Tahoma"/>
              </a:rPr>
              <a:t>consistently </a:t>
            </a:r>
            <a:r>
              <a:rPr sz="1150" spc="10" dirty="0">
                <a:latin typeface="Tahoma"/>
                <a:cs typeface="Tahoma"/>
              </a:rPr>
              <a:t>longer</a:t>
            </a:r>
            <a:r>
              <a:rPr sz="1150" spc="80" dirty="0">
                <a:latin typeface="Tahoma"/>
                <a:cs typeface="Tahoma"/>
              </a:rPr>
              <a:t> </a:t>
            </a:r>
            <a:r>
              <a:rPr sz="1150" spc="10" dirty="0">
                <a:latin typeface="Tahoma"/>
                <a:cs typeface="Tahoma"/>
              </a:rPr>
              <a:t>or</a:t>
            </a:r>
            <a:r>
              <a:rPr sz="1150" spc="80" dirty="0">
                <a:latin typeface="Tahoma"/>
                <a:cs typeface="Tahoma"/>
              </a:rPr>
              <a:t> </a:t>
            </a:r>
            <a:r>
              <a:rPr sz="1150" spc="45" dirty="0">
                <a:latin typeface="Tahoma"/>
                <a:cs typeface="Tahoma"/>
              </a:rPr>
              <a:t>shorter</a:t>
            </a:r>
            <a:r>
              <a:rPr sz="1150" spc="80" dirty="0">
                <a:latin typeface="Tahoma"/>
                <a:cs typeface="Tahoma"/>
              </a:rPr>
              <a:t> </a:t>
            </a:r>
            <a:r>
              <a:rPr sz="1150" spc="10" dirty="0">
                <a:latin typeface="Tahoma"/>
                <a:cs typeface="Tahoma"/>
              </a:rPr>
              <a:t>delivery</a:t>
            </a:r>
            <a:r>
              <a:rPr sz="1150" spc="80" dirty="0">
                <a:latin typeface="Tahoma"/>
                <a:cs typeface="Tahoma"/>
              </a:rPr>
              <a:t> </a:t>
            </a:r>
            <a:r>
              <a:rPr sz="1150" spc="-10" dirty="0">
                <a:latin typeface="Tahoma"/>
                <a:cs typeface="Tahoma"/>
              </a:rPr>
              <a:t>windows.</a:t>
            </a:r>
            <a:endParaRPr sz="1150">
              <a:latin typeface="Tahoma"/>
              <a:cs typeface="Tahoma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810124" y="1323974"/>
            <a:ext cx="5524499" cy="447674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19124" y="628649"/>
            <a:ext cx="5476874" cy="4429124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607466" y="5152326"/>
            <a:ext cx="3432810" cy="3886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350" dirty="0">
                <a:solidFill>
                  <a:srgbClr val="010101"/>
                </a:solidFill>
                <a:latin typeface="Georgia"/>
                <a:cs typeface="Georgia"/>
              </a:rPr>
              <a:t>Ratings</a:t>
            </a:r>
            <a:r>
              <a:rPr sz="2350" spc="45" dirty="0">
                <a:solidFill>
                  <a:srgbClr val="010101"/>
                </a:solidFill>
                <a:latin typeface="Georgia"/>
                <a:cs typeface="Georgia"/>
              </a:rPr>
              <a:t> </a:t>
            </a:r>
            <a:r>
              <a:rPr sz="2350" dirty="0">
                <a:solidFill>
                  <a:srgbClr val="010101"/>
                </a:solidFill>
                <a:latin typeface="Georgia"/>
                <a:cs typeface="Georgia"/>
              </a:rPr>
              <a:t>vs.</a:t>
            </a:r>
            <a:r>
              <a:rPr sz="2350" spc="-45" dirty="0">
                <a:solidFill>
                  <a:srgbClr val="010101"/>
                </a:solidFill>
                <a:latin typeface="Georgia"/>
                <a:cs typeface="Georgia"/>
              </a:rPr>
              <a:t> </a:t>
            </a:r>
            <a:r>
              <a:rPr sz="2350" dirty="0">
                <a:solidFill>
                  <a:srgbClr val="010101"/>
                </a:solidFill>
                <a:latin typeface="Georgia"/>
                <a:cs typeface="Georgia"/>
              </a:rPr>
              <a:t>Delivery</a:t>
            </a:r>
            <a:r>
              <a:rPr sz="2350" spc="60" dirty="0">
                <a:solidFill>
                  <a:srgbClr val="010101"/>
                </a:solidFill>
                <a:latin typeface="Georgia"/>
                <a:cs typeface="Georgia"/>
              </a:rPr>
              <a:t> </a:t>
            </a:r>
            <a:r>
              <a:rPr sz="2350" spc="-20" dirty="0">
                <a:solidFill>
                  <a:srgbClr val="010101"/>
                </a:solidFill>
                <a:latin typeface="Georgia"/>
                <a:cs typeface="Georgia"/>
              </a:rPr>
              <a:t>Time</a:t>
            </a:r>
            <a:endParaRPr sz="2350">
              <a:latin typeface="Georgia"/>
              <a:cs typeface="Georg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07466" y="5634767"/>
            <a:ext cx="5951220" cy="1638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900" dirty="0">
                <a:solidFill>
                  <a:srgbClr val="373737"/>
                </a:solidFill>
                <a:latin typeface="Tahoma"/>
                <a:cs typeface="Tahoma"/>
              </a:rPr>
              <a:t>Speed</a:t>
            </a:r>
            <a:r>
              <a:rPr sz="900" spc="105" dirty="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373737"/>
                </a:solidFill>
                <a:latin typeface="Tahoma"/>
                <a:cs typeface="Tahoma"/>
              </a:rPr>
              <a:t>and</a:t>
            </a:r>
            <a:r>
              <a:rPr sz="900" spc="105" dirty="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373737"/>
                </a:solidFill>
                <a:latin typeface="Tahoma"/>
                <a:cs typeface="Tahoma"/>
              </a:rPr>
              <a:t>satisfaction</a:t>
            </a:r>
            <a:r>
              <a:rPr sz="900" spc="105" dirty="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373737"/>
                </a:solidFill>
                <a:latin typeface="Tahoma"/>
                <a:cs typeface="Tahoma"/>
              </a:rPr>
              <a:t>are</a:t>
            </a:r>
            <a:r>
              <a:rPr sz="900" spc="105" dirty="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373737"/>
                </a:solidFill>
                <a:latin typeface="Tahoma"/>
                <a:cs typeface="Tahoma"/>
              </a:rPr>
              <a:t>linked</a:t>
            </a:r>
            <a:r>
              <a:rPr sz="900" spc="110" dirty="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373737"/>
                </a:solidFill>
                <a:latin typeface="Tahoma"/>
                <a:cs typeface="Tahoma"/>
              </a:rPr>
              <a:t>—</a:t>
            </a:r>
            <a:r>
              <a:rPr sz="900" spc="105" dirty="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373737"/>
                </a:solidFill>
                <a:latin typeface="Tahoma"/>
                <a:cs typeface="Tahoma"/>
              </a:rPr>
              <a:t>faster</a:t>
            </a:r>
            <a:r>
              <a:rPr sz="900" spc="105" dirty="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373737"/>
                </a:solidFill>
                <a:latin typeface="Tahoma"/>
                <a:cs typeface="Tahoma"/>
              </a:rPr>
              <a:t>deliveries</a:t>
            </a:r>
            <a:r>
              <a:rPr sz="900" spc="105" dirty="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373737"/>
                </a:solidFill>
                <a:latin typeface="Tahoma"/>
                <a:cs typeface="Tahoma"/>
              </a:rPr>
              <a:t>tend</a:t>
            </a:r>
            <a:r>
              <a:rPr sz="900" spc="105" dirty="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373737"/>
                </a:solidFill>
                <a:latin typeface="Tahoma"/>
                <a:cs typeface="Tahoma"/>
              </a:rPr>
              <a:t>to</a:t>
            </a:r>
            <a:r>
              <a:rPr sz="900" spc="110" dirty="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373737"/>
                </a:solidFill>
                <a:latin typeface="Tahoma"/>
                <a:cs typeface="Tahoma"/>
              </a:rPr>
              <a:t>drive</a:t>
            </a:r>
            <a:r>
              <a:rPr sz="900" spc="105" dirty="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373737"/>
                </a:solidFill>
                <a:latin typeface="Tahoma"/>
                <a:cs typeface="Tahoma"/>
              </a:rPr>
              <a:t>higher</a:t>
            </a:r>
            <a:r>
              <a:rPr sz="900" spc="105" dirty="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373737"/>
                </a:solidFill>
                <a:latin typeface="Tahoma"/>
                <a:cs typeface="Tahoma"/>
              </a:rPr>
              <a:t>ratings,</a:t>
            </a:r>
            <a:r>
              <a:rPr sz="900" spc="105" dirty="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373737"/>
                </a:solidFill>
                <a:latin typeface="Tahoma"/>
                <a:cs typeface="Tahoma"/>
              </a:rPr>
              <a:t>but</a:t>
            </a:r>
            <a:r>
              <a:rPr sz="900" spc="110" dirty="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373737"/>
                </a:solidFill>
                <a:latin typeface="Tahoma"/>
                <a:cs typeface="Tahoma"/>
              </a:rPr>
              <a:t>consistency</a:t>
            </a:r>
            <a:r>
              <a:rPr sz="900" spc="105" dirty="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373737"/>
                </a:solidFill>
                <a:latin typeface="Tahoma"/>
                <a:cs typeface="Tahoma"/>
              </a:rPr>
              <a:t>matters</a:t>
            </a:r>
            <a:r>
              <a:rPr sz="900" spc="105" dirty="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sz="900" spc="-10" dirty="0">
                <a:solidFill>
                  <a:srgbClr val="373737"/>
                </a:solidFill>
                <a:latin typeface="Tahoma"/>
                <a:cs typeface="Tahoma"/>
              </a:rPr>
              <a:t>most.</a:t>
            </a:r>
            <a:endParaRPr sz="9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88119" y="465931"/>
            <a:ext cx="3210560" cy="3771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300" dirty="0"/>
              <a:t>Vehicle</a:t>
            </a:r>
            <a:r>
              <a:rPr sz="2300" spc="20" dirty="0"/>
              <a:t> </a:t>
            </a:r>
            <a:r>
              <a:rPr sz="2300" dirty="0"/>
              <a:t>Type</a:t>
            </a:r>
            <a:r>
              <a:rPr sz="2300" spc="25" dirty="0"/>
              <a:t> </a:t>
            </a:r>
            <a:r>
              <a:rPr sz="2300" spc="-10" dirty="0"/>
              <a:t>Breakdown</a:t>
            </a:r>
            <a:endParaRPr sz="23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43075" y="1028699"/>
            <a:ext cx="4267199" cy="416242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7422901" y="2665335"/>
            <a:ext cx="3326129" cy="789305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10"/>
              </a:spcBef>
            </a:pPr>
            <a:r>
              <a:rPr sz="1150" dirty="0">
                <a:solidFill>
                  <a:srgbClr val="010101"/>
                </a:solidFill>
                <a:latin typeface="Georgia"/>
                <a:cs typeface="Georgia"/>
              </a:rPr>
              <a:t>Fleet</a:t>
            </a:r>
            <a:r>
              <a:rPr sz="1150" spc="15" dirty="0">
                <a:solidFill>
                  <a:srgbClr val="010101"/>
                </a:solidFill>
                <a:latin typeface="Georgia"/>
                <a:cs typeface="Georgia"/>
              </a:rPr>
              <a:t> </a:t>
            </a:r>
            <a:r>
              <a:rPr sz="1150" spc="-10" dirty="0">
                <a:solidFill>
                  <a:srgbClr val="010101"/>
                </a:solidFill>
                <a:latin typeface="Georgia"/>
                <a:cs typeface="Georgia"/>
              </a:rPr>
              <a:t>composition</a:t>
            </a:r>
            <a:endParaRPr sz="1150">
              <a:latin typeface="Georgia"/>
              <a:cs typeface="Georgia"/>
            </a:endParaRPr>
          </a:p>
          <a:p>
            <a:pPr marL="12700" marR="5080">
              <a:lnSpc>
                <a:spcPct val="113999"/>
              </a:lnSpc>
              <a:spcBef>
                <a:spcPts val="430"/>
              </a:spcBef>
            </a:pPr>
            <a:r>
              <a:rPr sz="850" spc="20" dirty="0">
                <a:solidFill>
                  <a:srgbClr val="373737"/>
                </a:solidFill>
                <a:latin typeface="Tahoma"/>
                <a:cs typeface="Tahoma"/>
              </a:rPr>
              <a:t>Each</a:t>
            </a:r>
            <a:r>
              <a:rPr sz="850" spc="35" dirty="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sz="850" spc="20" dirty="0">
                <a:solidFill>
                  <a:srgbClr val="373737"/>
                </a:solidFill>
                <a:latin typeface="Tahoma"/>
                <a:cs typeface="Tahoma"/>
              </a:rPr>
              <a:t>vehicle</a:t>
            </a:r>
            <a:r>
              <a:rPr sz="850" spc="35" dirty="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sz="850" spc="50" dirty="0">
                <a:solidFill>
                  <a:srgbClr val="373737"/>
                </a:solidFill>
                <a:latin typeface="Tahoma"/>
                <a:cs typeface="Tahoma"/>
              </a:rPr>
              <a:t>type</a:t>
            </a:r>
            <a:r>
              <a:rPr sz="850" spc="35" dirty="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sz="850" spc="20" dirty="0">
                <a:solidFill>
                  <a:srgbClr val="373737"/>
                </a:solidFill>
                <a:latin typeface="Tahoma"/>
                <a:cs typeface="Tahoma"/>
              </a:rPr>
              <a:t>serves</a:t>
            </a:r>
            <a:r>
              <a:rPr sz="850" spc="35" dirty="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sz="850" spc="20" dirty="0">
                <a:solidFill>
                  <a:srgbClr val="373737"/>
                </a:solidFill>
                <a:latin typeface="Tahoma"/>
                <a:cs typeface="Tahoma"/>
              </a:rPr>
              <a:t>different</a:t>
            </a:r>
            <a:r>
              <a:rPr sz="850" spc="35" dirty="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sz="850" spc="45" dirty="0">
                <a:solidFill>
                  <a:srgbClr val="373737"/>
                </a:solidFill>
                <a:latin typeface="Tahoma"/>
                <a:cs typeface="Tahoma"/>
              </a:rPr>
              <a:t>distance</a:t>
            </a:r>
            <a:r>
              <a:rPr sz="850" spc="35" dirty="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sz="850" spc="20" dirty="0">
                <a:solidFill>
                  <a:srgbClr val="373737"/>
                </a:solidFill>
                <a:latin typeface="Tahoma"/>
                <a:cs typeface="Tahoma"/>
              </a:rPr>
              <a:t>and</a:t>
            </a:r>
            <a:r>
              <a:rPr sz="850" spc="35" dirty="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sz="850" spc="20" dirty="0">
                <a:solidFill>
                  <a:srgbClr val="373737"/>
                </a:solidFill>
                <a:latin typeface="Tahoma"/>
                <a:cs typeface="Tahoma"/>
              </a:rPr>
              <a:t>density</a:t>
            </a:r>
            <a:r>
              <a:rPr sz="850" spc="35" dirty="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sz="850" spc="-10" dirty="0">
                <a:solidFill>
                  <a:srgbClr val="373737"/>
                </a:solidFill>
                <a:latin typeface="Tahoma"/>
                <a:cs typeface="Tahoma"/>
              </a:rPr>
              <a:t>profiles. </a:t>
            </a:r>
            <a:r>
              <a:rPr sz="850" spc="20" dirty="0">
                <a:solidFill>
                  <a:srgbClr val="373737"/>
                </a:solidFill>
                <a:latin typeface="Tahoma"/>
                <a:cs typeface="Tahoma"/>
              </a:rPr>
              <a:t>Understanding</a:t>
            </a:r>
            <a:r>
              <a:rPr sz="850" spc="30" dirty="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sz="850" spc="20" dirty="0">
                <a:solidFill>
                  <a:srgbClr val="373737"/>
                </a:solidFill>
                <a:latin typeface="Tahoma"/>
                <a:cs typeface="Tahoma"/>
              </a:rPr>
              <a:t>the</a:t>
            </a:r>
            <a:r>
              <a:rPr sz="850" spc="35" dirty="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sz="850" spc="20" dirty="0">
                <a:solidFill>
                  <a:srgbClr val="373737"/>
                </a:solidFill>
                <a:latin typeface="Tahoma"/>
                <a:cs typeface="Tahoma"/>
              </a:rPr>
              <a:t>mix</a:t>
            </a:r>
            <a:r>
              <a:rPr sz="850" spc="30" dirty="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sz="850" spc="20" dirty="0">
                <a:solidFill>
                  <a:srgbClr val="373737"/>
                </a:solidFill>
                <a:latin typeface="Tahoma"/>
                <a:cs typeface="Tahoma"/>
              </a:rPr>
              <a:t>helps</a:t>
            </a:r>
            <a:r>
              <a:rPr sz="850" spc="30" dirty="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sz="850" spc="20" dirty="0">
                <a:solidFill>
                  <a:srgbClr val="373737"/>
                </a:solidFill>
                <a:latin typeface="Tahoma"/>
                <a:cs typeface="Tahoma"/>
              </a:rPr>
              <a:t>optimize</a:t>
            </a:r>
            <a:r>
              <a:rPr sz="850" spc="35" dirty="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sz="850" spc="45" dirty="0">
                <a:solidFill>
                  <a:srgbClr val="373737"/>
                </a:solidFill>
                <a:latin typeface="Tahoma"/>
                <a:cs typeface="Tahoma"/>
              </a:rPr>
              <a:t>dispatch</a:t>
            </a:r>
            <a:r>
              <a:rPr sz="850" spc="30" dirty="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sz="850" spc="20" dirty="0">
                <a:solidFill>
                  <a:srgbClr val="373737"/>
                </a:solidFill>
                <a:latin typeface="Tahoma"/>
                <a:cs typeface="Tahoma"/>
              </a:rPr>
              <a:t>logic</a:t>
            </a:r>
            <a:r>
              <a:rPr sz="850" spc="35" dirty="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sz="850" spc="20" dirty="0">
                <a:solidFill>
                  <a:srgbClr val="373737"/>
                </a:solidFill>
                <a:latin typeface="Tahoma"/>
                <a:cs typeface="Tahoma"/>
              </a:rPr>
              <a:t>and</a:t>
            </a:r>
            <a:r>
              <a:rPr sz="850" spc="30" dirty="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sz="850" spc="-20" dirty="0">
                <a:solidFill>
                  <a:srgbClr val="373737"/>
                </a:solidFill>
                <a:latin typeface="Tahoma"/>
                <a:cs typeface="Tahoma"/>
              </a:rPr>
              <a:t>zone </a:t>
            </a:r>
            <a:r>
              <a:rPr sz="850" spc="-10" dirty="0">
                <a:solidFill>
                  <a:srgbClr val="373737"/>
                </a:solidFill>
                <a:latin typeface="Tahoma"/>
                <a:cs typeface="Tahoma"/>
              </a:rPr>
              <a:t>coverage.</a:t>
            </a:r>
            <a:endParaRPr sz="850">
              <a:latin typeface="Tahoma"/>
              <a:cs typeface="Tahom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600074" y="5343524"/>
            <a:ext cx="3362325" cy="609600"/>
            <a:chOff x="600074" y="5343524"/>
            <a:chExt cx="3362325" cy="609600"/>
          </a:xfrm>
        </p:grpSpPr>
        <p:sp>
          <p:nvSpPr>
            <p:cNvPr id="6" name="object 6"/>
            <p:cNvSpPr/>
            <p:nvPr/>
          </p:nvSpPr>
          <p:spPr>
            <a:xfrm>
              <a:off x="604837" y="5348287"/>
              <a:ext cx="3352800" cy="600075"/>
            </a:xfrm>
            <a:custGeom>
              <a:avLst/>
              <a:gdLst/>
              <a:ahLst/>
              <a:cxnLst/>
              <a:rect l="l" t="t" r="r" b="b"/>
              <a:pathLst>
                <a:path w="3352800" h="600075">
                  <a:moveTo>
                    <a:pt x="3346150" y="600074"/>
                  </a:moveTo>
                  <a:lnTo>
                    <a:pt x="6649" y="600074"/>
                  </a:lnTo>
                  <a:lnTo>
                    <a:pt x="4484" y="599177"/>
                  </a:lnTo>
                  <a:lnTo>
                    <a:pt x="896" y="595590"/>
                  </a:lnTo>
                  <a:lnTo>
                    <a:pt x="0" y="593425"/>
                  </a:lnTo>
                  <a:lnTo>
                    <a:pt x="0" y="590888"/>
                  </a:lnTo>
                  <a:lnTo>
                    <a:pt x="0" y="6649"/>
                  </a:lnTo>
                  <a:lnTo>
                    <a:pt x="896" y="4483"/>
                  </a:lnTo>
                  <a:lnTo>
                    <a:pt x="4484" y="896"/>
                  </a:lnTo>
                  <a:lnTo>
                    <a:pt x="6649" y="0"/>
                  </a:lnTo>
                  <a:lnTo>
                    <a:pt x="3346150" y="0"/>
                  </a:lnTo>
                  <a:lnTo>
                    <a:pt x="3348315" y="896"/>
                  </a:lnTo>
                  <a:lnTo>
                    <a:pt x="3351902" y="4483"/>
                  </a:lnTo>
                  <a:lnTo>
                    <a:pt x="3352799" y="6649"/>
                  </a:lnTo>
                  <a:lnTo>
                    <a:pt x="3352799" y="593425"/>
                  </a:lnTo>
                  <a:lnTo>
                    <a:pt x="3351902" y="595590"/>
                  </a:lnTo>
                  <a:lnTo>
                    <a:pt x="3348315" y="599177"/>
                  </a:lnTo>
                  <a:lnTo>
                    <a:pt x="3346150" y="60007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04837" y="5348287"/>
              <a:ext cx="3352800" cy="600075"/>
            </a:xfrm>
            <a:custGeom>
              <a:avLst/>
              <a:gdLst/>
              <a:ahLst/>
              <a:cxnLst/>
              <a:rect l="l" t="t" r="r" b="b"/>
              <a:pathLst>
                <a:path w="3352800" h="600075">
                  <a:moveTo>
                    <a:pt x="0" y="590888"/>
                  </a:moveTo>
                  <a:lnTo>
                    <a:pt x="0" y="9186"/>
                  </a:lnTo>
                  <a:lnTo>
                    <a:pt x="0" y="6649"/>
                  </a:lnTo>
                  <a:lnTo>
                    <a:pt x="896" y="4483"/>
                  </a:lnTo>
                  <a:lnTo>
                    <a:pt x="2690" y="2689"/>
                  </a:lnTo>
                  <a:lnTo>
                    <a:pt x="4484" y="896"/>
                  </a:lnTo>
                  <a:lnTo>
                    <a:pt x="6649" y="0"/>
                  </a:lnTo>
                  <a:lnTo>
                    <a:pt x="9185" y="0"/>
                  </a:lnTo>
                  <a:lnTo>
                    <a:pt x="3343613" y="0"/>
                  </a:lnTo>
                  <a:lnTo>
                    <a:pt x="3346150" y="0"/>
                  </a:lnTo>
                  <a:lnTo>
                    <a:pt x="3348315" y="896"/>
                  </a:lnTo>
                  <a:lnTo>
                    <a:pt x="3350109" y="2689"/>
                  </a:lnTo>
                  <a:lnTo>
                    <a:pt x="3351902" y="4483"/>
                  </a:lnTo>
                  <a:lnTo>
                    <a:pt x="3352799" y="6649"/>
                  </a:lnTo>
                  <a:lnTo>
                    <a:pt x="3352799" y="9186"/>
                  </a:lnTo>
                  <a:lnTo>
                    <a:pt x="3352799" y="590888"/>
                  </a:lnTo>
                  <a:lnTo>
                    <a:pt x="3343613" y="600074"/>
                  </a:lnTo>
                  <a:lnTo>
                    <a:pt x="9185" y="600074"/>
                  </a:lnTo>
                  <a:lnTo>
                    <a:pt x="0" y="593425"/>
                  </a:lnTo>
                  <a:lnTo>
                    <a:pt x="0" y="590888"/>
                  </a:lnTo>
                  <a:close/>
                </a:path>
              </a:pathLst>
            </a:custGeom>
            <a:ln w="9524">
              <a:solidFill>
                <a:srgbClr val="D8D4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604837" y="5348287"/>
            <a:ext cx="3352800" cy="600075"/>
          </a:xfrm>
          <a:prstGeom prst="rect">
            <a:avLst/>
          </a:prstGeom>
        </p:spPr>
        <p:txBody>
          <a:bodyPr vert="horz" wrap="square" lIns="0" tIns="115570" rIns="0" bIns="0" rtlCol="0">
            <a:spAutoFit/>
          </a:bodyPr>
          <a:lstStyle/>
          <a:p>
            <a:pPr marL="116839">
              <a:lnSpc>
                <a:spcPct val="100000"/>
              </a:lnSpc>
              <a:spcBef>
                <a:spcPts val="910"/>
              </a:spcBef>
            </a:pPr>
            <a:r>
              <a:rPr sz="1150" spc="-20" dirty="0">
                <a:solidFill>
                  <a:srgbClr val="373737"/>
                </a:solidFill>
                <a:latin typeface="Georgia"/>
                <a:cs typeface="Georgia"/>
              </a:rPr>
              <a:t>Cars</a:t>
            </a:r>
            <a:endParaRPr sz="1150">
              <a:latin typeface="Georgia"/>
              <a:cs typeface="Georgia"/>
            </a:endParaRPr>
          </a:p>
          <a:p>
            <a:pPr marL="116839">
              <a:lnSpc>
                <a:spcPct val="100000"/>
              </a:lnSpc>
              <a:spcBef>
                <a:spcPts val="345"/>
              </a:spcBef>
            </a:pPr>
            <a:r>
              <a:rPr sz="850" dirty="0">
                <a:solidFill>
                  <a:srgbClr val="373737"/>
                </a:solidFill>
                <a:latin typeface="Tahoma"/>
                <a:cs typeface="Tahoma"/>
              </a:rPr>
              <a:t>Longer</a:t>
            </a:r>
            <a:r>
              <a:rPr sz="850" spc="75" dirty="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sz="850" dirty="0">
                <a:solidFill>
                  <a:srgbClr val="373737"/>
                </a:solidFill>
                <a:latin typeface="Tahoma"/>
                <a:cs typeface="Tahoma"/>
              </a:rPr>
              <a:t>routes,</a:t>
            </a:r>
            <a:r>
              <a:rPr sz="850" spc="75" dirty="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sz="850" dirty="0">
                <a:solidFill>
                  <a:srgbClr val="373737"/>
                </a:solidFill>
                <a:latin typeface="Tahoma"/>
                <a:cs typeface="Tahoma"/>
              </a:rPr>
              <a:t>higher</a:t>
            </a:r>
            <a:r>
              <a:rPr sz="850" spc="75" dirty="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sz="850" spc="40" dirty="0">
                <a:solidFill>
                  <a:srgbClr val="373737"/>
                </a:solidFill>
                <a:latin typeface="Tahoma"/>
                <a:cs typeface="Tahoma"/>
              </a:rPr>
              <a:t>capacity</a:t>
            </a:r>
            <a:endParaRPr sz="850">
              <a:latin typeface="Tahoma"/>
              <a:cs typeface="Tahom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4029074" y="5343524"/>
            <a:ext cx="3371850" cy="609600"/>
            <a:chOff x="4029074" y="5343524"/>
            <a:chExt cx="3371850" cy="609600"/>
          </a:xfrm>
        </p:grpSpPr>
        <p:sp>
          <p:nvSpPr>
            <p:cNvPr id="10" name="object 10"/>
            <p:cNvSpPr/>
            <p:nvPr/>
          </p:nvSpPr>
          <p:spPr>
            <a:xfrm>
              <a:off x="4033836" y="5348287"/>
              <a:ext cx="3362325" cy="600075"/>
            </a:xfrm>
            <a:custGeom>
              <a:avLst/>
              <a:gdLst/>
              <a:ahLst/>
              <a:cxnLst/>
              <a:rect l="l" t="t" r="r" b="b"/>
              <a:pathLst>
                <a:path w="3362325" h="600075">
                  <a:moveTo>
                    <a:pt x="3355675" y="600074"/>
                  </a:moveTo>
                  <a:lnTo>
                    <a:pt x="6649" y="600074"/>
                  </a:lnTo>
                  <a:lnTo>
                    <a:pt x="4483" y="599177"/>
                  </a:lnTo>
                  <a:lnTo>
                    <a:pt x="896" y="595590"/>
                  </a:lnTo>
                  <a:lnTo>
                    <a:pt x="0" y="593425"/>
                  </a:lnTo>
                  <a:lnTo>
                    <a:pt x="0" y="590888"/>
                  </a:lnTo>
                  <a:lnTo>
                    <a:pt x="0" y="6649"/>
                  </a:lnTo>
                  <a:lnTo>
                    <a:pt x="896" y="4483"/>
                  </a:lnTo>
                  <a:lnTo>
                    <a:pt x="4483" y="896"/>
                  </a:lnTo>
                  <a:lnTo>
                    <a:pt x="6649" y="0"/>
                  </a:lnTo>
                  <a:lnTo>
                    <a:pt x="3355675" y="0"/>
                  </a:lnTo>
                  <a:lnTo>
                    <a:pt x="3357840" y="896"/>
                  </a:lnTo>
                  <a:lnTo>
                    <a:pt x="3361427" y="4483"/>
                  </a:lnTo>
                  <a:lnTo>
                    <a:pt x="3362324" y="6649"/>
                  </a:lnTo>
                  <a:lnTo>
                    <a:pt x="3362324" y="593425"/>
                  </a:lnTo>
                  <a:lnTo>
                    <a:pt x="3361427" y="595590"/>
                  </a:lnTo>
                  <a:lnTo>
                    <a:pt x="3357840" y="599177"/>
                  </a:lnTo>
                  <a:lnTo>
                    <a:pt x="3355675" y="60007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033836" y="5348287"/>
              <a:ext cx="3362325" cy="600075"/>
            </a:xfrm>
            <a:custGeom>
              <a:avLst/>
              <a:gdLst/>
              <a:ahLst/>
              <a:cxnLst/>
              <a:rect l="l" t="t" r="r" b="b"/>
              <a:pathLst>
                <a:path w="3362325" h="600075">
                  <a:moveTo>
                    <a:pt x="0" y="590888"/>
                  </a:moveTo>
                  <a:lnTo>
                    <a:pt x="0" y="9186"/>
                  </a:lnTo>
                  <a:lnTo>
                    <a:pt x="0" y="6649"/>
                  </a:lnTo>
                  <a:lnTo>
                    <a:pt x="896" y="4483"/>
                  </a:lnTo>
                  <a:lnTo>
                    <a:pt x="2690" y="2689"/>
                  </a:lnTo>
                  <a:lnTo>
                    <a:pt x="4483" y="896"/>
                  </a:lnTo>
                  <a:lnTo>
                    <a:pt x="6649" y="0"/>
                  </a:lnTo>
                  <a:lnTo>
                    <a:pt x="9186" y="0"/>
                  </a:lnTo>
                  <a:lnTo>
                    <a:pt x="3353138" y="0"/>
                  </a:lnTo>
                  <a:lnTo>
                    <a:pt x="3355675" y="0"/>
                  </a:lnTo>
                  <a:lnTo>
                    <a:pt x="3357840" y="896"/>
                  </a:lnTo>
                  <a:lnTo>
                    <a:pt x="3359633" y="2689"/>
                  </a:lnTo>
                  <a:lnTo>
                    <a:pt x="3361427" y="4483"/>
                  </a:lnTo>
                  <a:lnTo>
                    <a:pt x="3362324" y="6649"/>
                  </a:lnTo>
                  <a:lnTo>
                    <a:pt x="3362325" y="9186"/>
                  </a:lnTo>
                  <a:lnTo>
                    <a:pt x="3362325" y="590888"/>
                  </a:lnTo>
                  <a:lnTo>
                    <a:pt x="3353138" y="600074"/>
                  </a:lnTo>
                  <a:lnTo>
                    <a:pt x="9186" y="600074"/>
                  </a:lnTo>
                  <a:lnTo>
                    <a:pt x="0" y="593425"/>
                  </a:lnTo>
                  <a:lnTo>
                    <a:pt x="0" y="590888"/>
                  </a:lnTo>
                  <a:close/>
                </a:path>
              </a:pathLst>
            </a:custGeom>
            <a:ln w="9524">
              <a:solidFill>
                <a:srgbClr val="D8D4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4033837" y="5348287"/>
            <a:ext cx="3362325" cy="600075"/>
          </a:xfrm>
          <a:prstGeom prst="rect">
            <a:avLst/>
          </a:prstGeom>
        </p:spPr>
        <p:txBody>
          <a:bodyPr vert="horz" wrap="square" lIns="0" tIns="115570" rIns="0" bIns="0" rtlCol="0">
            <a:spAutoFit/>
          </a:bodyPr>
          <a:lstStyle/>
          <a:p>
            <a:pPr marL="120650">
              <a:lnSpc>
                <a:spcPct val="100000"/>
              </a:lnSpc>
              <a:spcBef>
                <a:spcPts val="910"/>
              </a:spcBef>
            </a:pPr>
            <a:r>
              <a:rPr sz="1150" spc="-10" dirty="0">
                <a:solidFill>
                  <a:srgbClr val="373737"/>
                </a:solidFill>
                <a:latin typeface="Georgia"/>
                <a:cs typeface="Georgia"/>
              </a:rPr>
              <a:t>Motorcycles</a:t>
            </a:r>
            <a:endParaRPr sz="1150">
              <a:latin typeface="Georgia"/>
              <a:cs typeface="Georgia"/>
            </a:endParaRPr>
          </a:p>
          <a:p>
            <a:pPr marL="120650">
              <a:lnSpc>
                <a:spcPct val="100000"/>
              </a:lnSpc>
              <a:spcBef>
                <a:spcPts val="345"/>
              </a:spcBef>
            </a:pPr>
            <a:r>
              <a:rPr sz="850" dirty="0">
                <a:solidFill>
                  <a:srgbClr val="373737"/>
                </a:solidFill>
                <a:latin typeface="Tahoma"/>
                <a:cs typeface="Tahoma"/>
              </a:rPr>
              <a:t>Urban</a:t>
            </a:r>
            <a:r>
              <a:rPr sz="850" spc="55" dirty="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sz="850" dirty="0">
                <a:solidFill>
                  <a:srgbClr val="373737"/>
                </a:solidFill>
                <a:latin typeface="Tahoma"/>
                <a:cs typeface="Tahoma"/>
              </a:rPr>
              <a:t>agility,</a:t>
            </a:r>
            <a:r>
              <a:rPr sz="850" spc="55" dirty="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sz="850" dirty="0">
                <a:solidFill>
                  <a:srgbClr val="373737"/>
                </a:solidFill>
                <a:latin typeface="Tahoma"/>
                <a:cs typeface="Tahoma"/>
              </a:rPr>
              <a:t>faster</a:t>
            </a:r>
            <a:r>
              <a:rPr sz="850" spc="60" dirty="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sz="850" spc="50" dirty="0">
                <a:solidFill>
                  <a:srgbClr val="373737"/>
                </a:solidFill>
                <a:latin typeface="Tahoma"/>
                <a:cs typeface="Tahoma"/>
              </a:rPr>
              <a:t>last-</a:t>
            </a:r>
            <a:r>
              <a:rPr sz="850" spc="-20" dirty="0">
                <a:solidFill>
                  <a:srgbClr val="373737"/>
                </a:solidFill>
                <a:latin typeface="Tahoma"/>
                <a:cs typeface="Tahoma"/>
              </a:rPr>
              <a:t>mile</a:t>
            </a:r>
            <a:endParaRPr sz="850">
              <a:latin typeface="Tahoma"/>
              <a:cs typeface="Tahoma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7467599" y="5343524"/>
            <a:ext cx="3362325" cy="609600"/>
            <a:chOff x="7467599" y="5343524"/>
            <a:chExt cx="3362325" cy="609600"/>
          </a:xfrm>
        </p:grpSpPr>
        <p:sp>
          <p:nvSpPr>
            <p:cNvPr id="14" name="object 14"/>
            <p:cNvSpPr/>
            <p:nvPr/>
          </p:nvSpPr>
          <p:spPr>
            <a:xfrm>
              <a:off x="7472361" y="5348287"/>
              <a:ext cx="3352800" cy="600075"/>
            </a:xfrm>
            <a:custGeom>
              <a:avLst/>
              <a:gdLst/>
              <a:ahLst/>
              <a:cxnLst/>
              <a:rect l="l" t="t" r="r" b="b"/>
              <a:pathLst>
                <a:path w="3352800" h="600075">
                  <a:moveTo>
                    <a:pt x="3346150" y="600074"/>
                  </a:moveTo>
                  <a:lnTo>
                    <a:pt x="6649" y="600074"/>
                  </a:lnTo>
                  <a:lnTo>
                    <a:pt x="4483" y="599177"/>
                  </a:lnTo>
                  <a:lnTo>
                    <a:pt x="897" y="595590"/>
                  </a:lnTo>
                  <a:lnTo>
                    <a:pt x="0" y="593425"/>
                  </a:lnTo>
                  <a:lnTo>
                    <a:pt x="0" y="590888"/>
                  </a:lnTo>
                  <a:lnTo>
                    <a:pt x="0" y="6649"/>
                  </a:lnTo>
                  <a:lnTo>
                    <a:pt x="897" y="4483"/>
                  </a:lnTo>
                  <a:lnTo>
                    <a:pt x="4483" y="896"/>
                  </a:lnTo>
                  <a:lnTo>
                    <a:pt x="6649" y="0"/>
                  </a:lnTo>
                  <a:lnTo>
                    <a:pt x="3346150" y="0"/>
                  </a:lnTo>
                  <a:lnTo>
                    <a:pt x="3348315" y="896"/>
                  </a:lnTo>
                  <a:lnTo>
                    <a:pt x="3351902" y="4483"/>
                  </a:lnTo>
                  <a:lnTo>
                    <a:pt x="3352798" y="6649"/>
                  </a:lnTo>
                  <a:lnTo>
                    <a:pt x="3352798" y="593425"/>
                  </a:lnTo>
                  <a:lnTo>
                    <a:pt x="3351902" y="595590"/>
                  </a:lnTo>
                  <a:lnTo>
                    <a:pt x="3348315" y="599177"/>
                  </a:lnTo>
                  <a:lnTo>
                    <a:pt x="3346150" y="60007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7472361" y="5348287"/>
              <a:ext cx="3352800" cy="600075"/>
            </a:xfrm>
            <a:custGeom>
              <a:avLst/>
              <a:gdLst/>
              <a:ahLst/>
              <a:cxnLst/>
              <a:rect l="l" t="t" r="r" b="b"/>
              <a:pathLst>
                <a:path w="3352800" h="600075">
                  <a:moveTo>
                    <a:pt x="0" y="590888"/>
                  </a:moveTo>
                  <a:lnTo>
                    <a:pt x="0" y="9186"/>
                  </a:lnTo>
                  <a:lnTo>
                    <a:pt x="0" y="6649"/>
                  </a:lnTo>
                  <a:lnTo>
                    <a:pt x="897" y="4483"/>
                  </a:lnTo>
                  <a:lnTo>
                    <a:pt x="2690" y="2689"/>
                  </a:lnTo>
                  <a:lnTo>
                    <a:pt x="4483" y="896"/>
                  </a:lnTo>
                  <a:lnTo>
                    <a:pt x="6649" y="0"/>
                  </a:lnTo>
                  <a:lnTo>
                    <a:pt x="9186" y="0"/>
                  </a:lnTo>
                  <a:lnTo>
                    <a:pt x="3343614" y="0"/>
                  </a:lnTo>
                  <a:lnTo>
                    <a:pt x="3346150" y="0"/>
                  </a:lnTo>
                  <a:lnTo>
                    <a:pt x="3348315" y="896"/>
                  </a:lnTo>
                  <a:lnTo>
                    <a:pt x="3350108" y="2689"/>
                  </a:lnTo>
                  <a:lnTo>
                    <a:pt x="3351902" y="4483"/>
                  </a:lnTo>
                  <a:lnTo>
                    <a:pt x="3352798" y="6649"/>
                  </a:lnTo>
                  <a:lnTo>
                    <a:pt x="3352799" y="9186"/>
                  </a:lnTo>
                  <a:lnTo>
                    <a:pt x="3352799" y="590888"/>
                  </a:lnTo>
                  <a:lnTo>
                    <a:pt x="3352798" y="593425"/>
                  </a:lnTo>
                  <a:lnTo>
                    <a:pt x="3351902" y="595590"/>
                  </a:lnTo>
                  <a:lnTo>
                    <a:pt x="3350108" y="597383"/>
                  </a:lnTo>
                  <a:lnTo>
                    <a:pt x="3348315" y="599177"/>
                  </a:lnTo>
                  <a:lnTo>
                    <a:pt x="3346150" y="600074"/>
                  </a:lnTo>
                  <a:lnTo>
                    <a:pt x="3343614" y="600074"/>
                  </a:lnTo>
                  <a:lnTo>
                    <a:pt x="9186" y="600074"/>
                  </a:lnTo>
                  <a:lnTo>
                    <a:pt x="0" y="593425"/>
                  </a:lnTo>
                  <a:lnTo>
                    <a:pt x="0" y="590888"/>
                  </a:lnTo>
                  <a:close/>
                </a:path>
              </a:pathLst>
            </a:custGeom>
            <a:ln w="9524">
              <a:solidFill>
                <a:srgbClr val="D8D4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7472361" y="5348287"/>
            <a:ext cx="3352800" cy="600075"/>
          </a:xfrm>
          <a:prstGeom prst="rect">
            <a:avLst/>
          </a:prstGeom>
        </p:spPr>
        <p:txBody>
          <a:bodyPr vert="horz" wrap="square" lIns="0" tIns="115570" rIns="0" bIns="0" rtlCol="0">
            <a:spAutoFit/>
          </a:bodyPr>
          <a:lstStyle/>
          <a:p>
            <a:pPr marL="114935">
              <a:lnSpc>
                <a:spcPct val="100000"/>
              </a:lnSpc>
              <a:spcBef>
                <a:spcPts val="910"/>
              </a:spcBef>
            </a:pPr>
            <a:r>
              <a:rPr sz="1150" spc="-10" dirty="0">
                <a:solidFill>
                  <a:srgbClr val="373737"/>
                </a:solidFill>
                <a:latin typeface="Georgia"/>
                <a:cs typeface="Georgia"/>
              </a:rPr>
              <a:t>Bicycles</a:t>
            </a:r>
            <a:endParaRPr sz="1150">
              <a:latin typeface="Georgia"/>
              <a:cs typeface="Georgia"/>
            </a:endParaRPr>
          </a:p>
          <a:p>
            <a:pPr marL="114935">
              <a:lnSpc>
                <a:spcPct val="100000"/>
              </a:lnSpc>
              <a:spcBef>
                <a:spcPts val="345"/>
              </a:spcBef>
            </a:pPr>
            <a:r>
              <a:rPr sz="850" dirty="0">
                <a:solidFill>
                  <a:srgbClr val="373737"/>
                </a:solidFill>
                <a:latin typeface="Tahoma"/>
                <a:cs typeface="Tahoma"/>
              </a:rPr>
              <a:t>Dense</a:t>
            </a:r>
            <a:r>
              <a:rPr sz="850" spc="110" dirty="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sz="850" dirty="0">
                <a:solidFill>
                  <a:srgbClr val="373737"/>
                </a:solidFill>
                <a:latin typeface="Tahoma"/>
                <a:cs typeface="Tahoma"/>
              </a:rPr>
              <a:t>zones,</a:t>
            </a:r>
            <a:r>
              <a:rPr sz="850" spc="114" dirty="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sz="850" spc="85" dirty="0">
                <a:solidFill>
                  <a:srgbClr val="373737"/>
                </a:solidFill>
                <a:latin typeface="Tahoma"/>
                <a:cs typeface="Tahoma"/>
              </a:rPr>
              <a:t>eco-</a:t>
            </a:r>
            <a:r>
              <a:rPr sz="850" spc="-10" dirty="0">
                <a:solidFill>
                  <a:srgbClr val="373737"/>
                </a:solidFill>
                <a:latin typeface="Tahoma"/>
                <a:cs typeface="Tahoma"/>
              </a:rPr>
              <a:t>friendly</a:t>
            </a:r>
            <a:endParaRPr sz="8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0707" rIns="0" bIns="0" rtlCol="0">
            <a:spAutoFit/>
          </a:bodyPr>
          <a:lstStyle/>
          <a:p>
            <a:pPr marL="31750">
              <a:lnSpc>
                <a:spcPct val="100000"/>
              </a:lnSpc>
              <a:spcBef>
                <a:spcPts val="130"/>
              </a:spcBef>
            </a:pPr>
            <a:r>
              <a:rPr sz="2900" dirty="0"/>
              <a:t>Order</a:t>
            </a:r>
            <a:r>
              <a:rPr sz="2900" spc="-25" dirty="0"/>
              <a:t> </a:t>
            </a:r>
            <a:r>
              <a:rPr sz="2900" dirty="0"/>
              <a:t>Type</a:t>
            </a:r>
            <a:r>
              <a:rPr sz="2900" spc="-75" dirty="0"/>
              <a:t> </a:t>
            </a:r>
            <a:r>
              <a:rPr sz="2900" spc="-10" dirty="0"/>
              <a:t>Analysis</a:t>
            </a:r>
            <a:endParaRPr sz="2900"/>
          </a:p>
        </p:txBody>
      </p:sp>
      <p:sp>
        <p:nvSpPr>
          <p:cNvPr id="3" name="object 3"/>
          <p:cNvSpPr txBox="1"/>
          <p:nvPr/>
        </p:nvSpPr>
        <p:spPr>
          <a:xfrm>
            <a:off x="607466" y="2944526"/>
            <a:ext cx="3074670" cy="1163955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450" spc="-10" dirty="0">
                <a:solidFill>
                  <a:srgbClr val="010101"/>
                </a:solidFill>
                <a:latin typeface="Georgia"/>
                <a:cs typeface="Georgia"/>
              </a:rPr>
              <a:t>Order</a:t>
            </a:r>
            <a:r>
              <a:rPr sz="1450" spc="20" dirty="0">
                <a:solidFill>
                  <a:srgbClr val="010101"/>
                </a:solidFill>
                <a:latin typeface="Georgia"/>
                <a:cs typeface="Georgia"/>
              </a:rPr>
              <a:t> </a:t>
            </a:r>
            <a:r>
              <a:rPr sz="1450" dirty="0">
                <a:solidFill>
                  <a:srgbClr val="010101"/>
                </a:solidFill>
                <a:latin typeface="Georgia"/>
                <a:cs typeface="Georgia"/>
              </a:rPr>
              <a:t>complexity</a:t>
            </a:r>
            <a:r>
              <a:rPr sz="1450" spc="25" dirty="0">
                <a:solidFill>
                  <a:srgbClr val="010101"/>
                </a:solidFill>
                <a:latin typeface="Georgia"/>
                <a:cs typeface="Georgia"/>
              </a:rPr>
              <a:t> </a:t>
            </a:r>
            <a:r>
              <a:rPr sz="1450" spc="-10" dirty="0">
                <a:solidFill>
                  <a:srgbClr val="010101"/>
                </a:solidFill>
                <a:latin typeface="Georgia"/>
                <a:cs typeface="Georgia"/>
              </a:rPr>
              <a:t>impact</a:t>
            </a:r>
            <a:endParaRPr sz="1450">
              <a:latin typeface="Georgia"/>
              <a:cs typeface="Georgia"/>
            </a:endParaRPr>
          </a:p>
          <a:p>
            <a:pPr marL="12700" marR="5080">
              <a:lnSpc>
                <a:spcPct val="123100"/>
              </a:lnSpc>
              <a:spcBef>
                <a:spcPts val="705"/>
              </a:spcBef>
            </a:pPr>
            <a:r>
              <a:rPr sz="1100" dirty="0">
                <a:solidFill>
                  <a:srgbClr val="373737"/>
                </a:solidFill>
                <a:latin typeface="Tahoma"/>
                <a:cs typeface="Tahoma"/>
              </a:rPr>
              <a:t>Order</a:t>
            </a:r>
            <a:r>
              <a:rPr sz="1100" spc="50" dirty="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sz="1100" spc="65" dirty="0">
                <a:solidFill>
                  <a:srgbClr val="373737"/>
                </a:solidFill>
                <a:latin typeface="Tahoma"/>
                <a:cs typeface="Tahoma"/>
              </a:rPr>
              <a:t>type</a:t>
            </a:r>
            <a:r>
              <a:rPr sz="1100" spc="55" dirty="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373737"/>
                </a:solidFill>
                <a:latin typeface="Tahoma"/>
                <a:cs typeface="Tahoma"/>
              </a:rPr>
              <a:t>—</a:t>
            </a:r>
            <a:r>
              <a:rPr sz="1100" spc="55" dirty="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373737"/>
                </a:solidFill>
                <a:latin typeface="Tahoma"/>
                <a:cs typeface="Tahoma"/>
              </a:rPr>
              <a:t>single</a:t>
            </a:r>
            <a:r>
              <a:rPr sz="1100" spc="50" dirty="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373737"/>
                </a:solidFill>
                <a:latin typeface="Tahoma"/>
                <a:cs typeface="Tahoma"/>
              </a:rPr>
              <a:t>item,</a:t>
            </a:r>
            <a:r>
              <a:rPr sz="1100" spc="55" dirty="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373737"/>
                </a:solidFill>
                <a:latin typeface="Tahoma"/>
                <a:cs typeface="Tahoma"/>
              </a:rPr>
              <a:t>combo,</a:t>
            </a:r>
            <a:r>
              <a:rPr sz="1100" spc="55" dirty="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373737"/>
                </a:solidFill>
                <a:latin typeface="Tahoma"/>
                <a:cs typeface="Tahoma"/>
              </a:rPr>
              <a:t>or</a:t>
            </a:r>
            <a:r>
              <a:rPr sz="1100" spc="50" dirty="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373737"/>
                </a:solidFill>
                <a:latin typeface="Tahoma"/>
                <a:cs typeface="Tahoma"/>
              </a:rPr>
              <a:t>group</a:t>
            </a:r>
            <a:r>
              <a:rPr sz="1100" spc="55" dirty="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sz="1100" spc="-50" dirty="0">
                <a:solidFill>
                  <a:srgbClr val="373737"/>
                </a:solidFill>
                <a:latin typeface="Tahoma"/>
                <a:cs typeface="Tahoma"/>
              </a:rPr>
              <a:t>— </a:t>
            </a:r>
            <a:r>
              <a:rPr sz="1100" spc="45" dirty="0">
                <a:solidFill>
                  <a:srgbClr val="373737"/>
                </a:solidFill>
                <a:latin typeface="Tahoma"/>
                <a:cs typeface="Tahoma"/>
              </a:rPr>
              <a:t>directly</a:t>
            </a:r>
            <a:r>
              <a:rPr sz="1100" spc="50" dirty="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sz="1100" spc="45" dirty="0">
                <a:solidFill>
                  <a:srgbClr val="373737"/>
                </a:solidFill>
                <a:latin typeface="Tahoma"/>
                <a:cs typeface="Tahoma"/>
              </a:rPr>
              <a:t>affects</a:t>
            </a:r>
            <a:r>
              <a:rPr sz="1100" spc="55" dirty="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sz="1100" spc="50" dirty="0">
                <a:solidFill>
                  <a:srgbClr val="373737"/>
                </a:solidFill>
                <a:latin typeface="Tahoma"/>
                <a:cs typeface="Tahoma"/>
              </a:rPr>
              <a:t>prep</a:t>
            </a:r>
            <a:r>
              <a:rPr sz="1100" spc="55" dirty="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373737"/>
                </a:solidFill>
                <a:latin typeface="Tahoma"/>
                <a:cs typeface="Tahoma"/>
              </a:rPr>
              <a:t>time</a:t>
            </a:r>
            <a:r>
              <a:rPr sz="1100" spc="55" dirty="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373737"/>
                </a:solidFill>
                <a:latin typeface="Tahoma"/>
                <a:cs typeface="Tahoma"/>
              </a:rPr>
              <a:t>and</a:t>
            </a:r>
            <a:r>
              <a:rPr sz="1100" spc="55" dirty="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373737"/>
                </a:solidFill>
                <a:latin typeface="Tahoma"/>
                <a:cs typeface="Tahoma"/>
              </a:rPr>
              <a:t>delivery</a:t>
            </a:r>
            <a:r>
              <a:rPr sz="1100" spc="55" dirty="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373737"/>
                </a:solidFill>
                <a:latin typeface="Tahoma"/>
                <a:cs typeface="Tahoma"/>
              </a:rPr>
              <a:t>routing. </a:t>
            </a:r>
            <a:r>
              <a:rPr sz="1100" spc="20" dirty="0">
                <a:solidFill>
                  <a:srgbClr val="373737"/>
                </a:solidFill>
                <a:latin typeface="Tahoma"/>
                <a:cs typeface="Tahoma"/>
              </a:rPr>
              <a:t>Segment</a:t>
            </a:r>
            <a:r>
              <a:rPr sz="1100" spc="35" dirty="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sz="1100" spc="20" dirty="0">
                <a:solidFill>
                  <a:srgbClr val="373737"/>
                </a:solidFill>
                <a:latin typeface="Tahoma"/>
                <a:cs typeface="Tahoma"/>
              </a:rPr>
              <a:t>performance</a:t>
            </a:r>
            <a:r>
              <a:rPr sz="1100" spc="35" dirty="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sz="1100" spc="50" dirty="0">
                <a:solidFill>
                  <a:srgbClr val="373737"/>
                </a:solidFill>
                <a:latin typeface="Tahoma"/>
                <a:cs typeface="Tahoma"/>
              </a:rPr>
              <a:t>by</a:t>
            </a:r>
            <a:r>
              <a:rPr sz="1100" spc="35" dirty="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sz="1100" spc="20" dirty="0">
                <a:solidFill>
                  <a:srgbClr val="373737"/>
                </a:solidFill>
                <a:latin typeface="Tahoma"/>
                <a:cs typeface="Tahoma"/>
              </a:rPr>
              <a:t>order</a:t>
            </a:r>
            <a:r>
              <a:rPr sz="1100" spc="35" dirty="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sz="1100" spc="65" dirty="0">
                <a:solidFill>
                  <a:srgbClr val="373737"/>
                </a:solidFill>
                <a:latin typeface="Tahoma"/>
                <a:cs typeface="Tahoma"/>
              </a:rPr>
              <a:t>type</a:t>
            </a:r>
            <a:r>
              <a:rPr sz="1100" spc="35" dirty="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sz="1100" spc="55" dirty="0">
                <a:solidFill>
                  <a:srgbClr val="373737"/>
                </a:solidFill>
                <a:latin typeface="Tahoma"/>
                <a:cs typeface="Tahoma"/>
              </a:rPr>
              <a:t>to</a:t>
            </a:r>
            <a:r>
              <a:rPr sz="1100" spc="35" dirty="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373737"/>
                </a:solidFill>
                <a:latin typeface="Tahoma"/>
                <a:cs typeface="Tahoma"/>
              </a:rPr>
              <a:t>isolate bottlenecks.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72049" y="1295399"/>
            <a:ext cx="5200649" cy="447674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7499" rIns="0" bIns="0" rtlCol="0">
            <a:spAutoFit/>
          </a:bodyPr>
          <a:lstStyle/>
          <a:p>
            <a:pPr marL="31750">
              <a:lnSpc>
                <a:spcPct val="100000"/>
              </a:lnSpc>
              <a:spcBef>
                <a:spcPts val="110"/>
              </a:spcBef>
            </a:pPr>
            <a:r>
              <a:rPr sz="2550" dirty="0"/>
              <a:t>Average</a:t>
            </a:r>
            <a:r>
              <a:rPr sz="2550" spc="-40" dirty="0"/>
              <a:t> </a:t>
            </a:r>
            <a:r>
              <a:rPr sz="2550" dirty="0"/>
              <a:t>Delivery</a:t>
            </a:r>
            <a:r>
              <a:rPr sz="2550" spc="-40" dirty="0"/>
              <a:t> </a:t>
            </a:r>
            <a:r>
              <a:rPr sz="2550" dirty="0"/>
              <a:t>Time</a:t>
            </a:r>
            <a:r>
              <a:rPr sz="2550" spc="-40" dirty="0"/>
              <a:t> </a:t>
            </a:r>
            <a:r>
              <a:rPr sz="2550" dirty="0"/>
              <a:t>by</a:t>
            </a:r>
            <a:r>
              <a:rPr sz="2550" spc="-110" dirty="0"/>
              <a:t> </a:t>
            </a:r>
            <a:r>
              <a:rPr sz="2550" spc="-10" dirty="0"/>
              <a:t>Vehicle</a:t>
            </a:r>
            <a:endParaRPr sz="255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00200" y="1152524"/>
            <a:ext cx="4562474" cy="4667249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7448548" y="3543299"/>
            <a:ext cx="3371850" cy="600075"/>
            <a:chOff x="7448548" y="3543299"/>
            <a:chExt cx="3371850" cy="600075"/>
          </a:xfrm>
        </p:grpSpPr>
        <p:sp>
          <p:nvSpPr>
            <p:cNvPr id="5" name="object 5"/>
            <p:cNvSpPr/>
            <p:nvPr/>
          </p:nvSpPr>
          <p:spPr>
            <a:xfrm>
              <a:off x="7448548" y="3543299"/>
              <a:ext cx="3371850" cy="600075"/>
            </a:xfrm>
            <a:custGeom>
              <a:avLst/>
              <a:gdLst/>
              <a:ahLst/>
              <a:cxnLst/>
              <a:rect l="l" t="t" r="r" b="b"/>
              <a:pathLst>
                <a:path w="3371850" h="600075">
                  <a:moveTo>
                    <a:pt x="3358398" y="600074"/>
                  </a:moveTo>
                  <a:lnTo>
                    <a:pt x="13449" y="600074"/>
                  </a:lnTo>
                  <a:lnTo>
                    <a:pt x="11471" y="599681"/>
                  </a:lnTo>
                  <a:lnTo>
                    <a:pt x="0" y="586625"/>
                  </a:lnTo>
                  <a:lnTo>
                    <a:pt x="0" y="584569"/>
                  </a:lnTo>
                  <a:lnTo>
                    <a:pt x="0" y="13449"/>
                  </a:lnTo>
                  <a:lnTo>
                    <a:pt x="13449" y="0"/>
                  </a:lnTo>
                  <a:lnTo>
                    <a:pt x="3358398" y="0"/>
                  </a:lnTo>
                  <a:lnTo>
                    <a:pt x="3371849" y="13449"/>
                  </a:lnTo>
                  <a:lnTo>
                    <a:pt x="3371849" y="586625"/>
                  </a:lnTo>
                  <a:lnTo>
                    <a:pt x="3360376" y="599681"/>
                  </a:lnTo>
                  <a:lnTo>
                    <a:pt x="3358398" y="600074"/>
                  </a:lnTo>
                  <a:close/>
                </a:path>
              </a:pathLst>
            </a:custGeom>
            <a:solidFill>
              <a:srgbClr val="B5D5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587852" y="3714749"/>
              <a:ext cx="123973" cy="123973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7436742" y="2805842"/>
            <a:ext cx="3241675" cy="119443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250" dirty="0">
                <a:solidFill>
                  <a:srgbClr val="010101"/>
                </a:solidFill>
                <a:latin typeface="Georgia"/>
                <a:cs typeface="Georgia"/>
              </a:rPr>
              <a:t>Fleet</a:t>
            </a:r>
            <a:r>
              <a:rPr sz="1250" spc="80" dirty="0">
                <a:solidFill>
                  <a:srgbClr val="010101"/>
                </a:solidFill>
                <a:latin typeface="Georgia"/>
                <a:cs typeface="Georgia"/>
              </a:rPr>
              <a:t> </a:t>
            </a:r>
            <a:r>
              <a:rPr sz="1250" dirty="0">
                <a:solidFill>
                  <a:srgbClr val="010101"/>
                </a:solidFill>
                <a:latin typeface="Georgia"/>
                <a:cs typeface="Georgia"/>
              </a:rPr>
              <a:t>performance</a:t>
            </a:r>
            <a:r>
              <a:rPr sz="1250" spc="80" dirty="0">
                <a:solidFill>
                  <a:srgbClr val="010101"/>
                </a:solidFill>
                <a:latin typeface="Georgia"/>
                <a:cs typeface="Georgia"/>
              </a:rPr>
              <a:t> </a:t>
            </a:r>
            <a:r>
              <a:rPr sz="1250" spc="-10" dirty="0">
                <a:solidFill>
                  <a:srgbClr val="010101"/>
                </a:solidFill>
                <a:latin typeface="Georgia"/>
                <a:cs typeface="Georgia"/>
              </a:rPr>
              <a:t>benchmark</a:t>
            </a:r>
            <a:endParaRPr sz="1250">
              <a:latin typeface="Georgia"/>
              <a:cs typeface="Georgia"/>
            </a:endParaRPr>
          </a:p>
          <a:p>
            <a:pPr marL="12700" marR="5080">
              <a:lnSpc>
                <a:spcPct val="118400"/>
              </a:lnSpc>
              <a:spcBef>
                <a:spcPts val="615"/>
              </a:spcBef>
            </a:pPr>
            <a:r>
              <a:rPr sz="950" spc="55" dirty="0">
                <a:solidFill>
                  <a:srgbClr val="373737"/>
                </a:solidFill>
                <a:latin typeface="Tahoma"/>
                <a:cs typeface="Tahoma"/>
              </a:rPr>
              <a:t>Compare</a:t>
            </a:r>
            <a:r>
              <a:rPr sz="950" spc="60" dirty="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sz="950" spc="10" dirty="0">
                <a:solidFill>
                  <a:srgbClr val="373737"/>
                </a:solidFill>
                <a:latin typeface="Tahoma"/>
                <a:cs typeface="Tahoma"/>
              </a:rPr>
              <a:t>average</a:t>
            </a:r>
            <a:r>
              <a:rPr sz="950" spc="65" dirty="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sz="950" spc="10" dirty="0">
                <a:solidFill>
                  <a:srgbClr val="373737"/>
                </a:solidFill>
                <a:latin typeface="Tahoma"/>
                <a:cs typeface="Tahoma"/>
              </a:rPr>
              <a:t>delivery</a:t>
            </a:r>
            <a:r>
              <a:rPr sz="950" spc="60" dirty="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sz="950" spc="10" dirty="0">
                <a:solidFill>
                  <a:srgbClr val="373737"/>
                </a:solidFill>
                <a:latin typeface="Tahoma"/>
                <a:cs typeface="Tahoma"/>
              </a:rPr>
              <a:t>times</a:t>
            </a:r>
            <a:r>
              <a:rPr sz="950" spc="65" dirty="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sz="950" spc="50" dirty="0">
                <a:solidFill>
                  <a:srgbClr val="373737"/>
                </a:solidFill>
                <a:latin typeface="Tahoma"/>
                <a:cs typeface="Tahoma"/>
              </a:rPr>
              <a:t>across</a:t>
            </a:r>
            <a:r>
              <a:rPr sz="950" spc="60" dirty="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sz="950" spc="10" dirty="0">
                <a:solidFill>
                  <a:srgbClr val="373737"/>
                </a:solidFill>
                <a:latin typeface="Tahoma"/>
                <a:cs typeface="Tahoma"/>
              </a:rPr>
              <a:t>vehicle</a:t>
            </a:r>
            <a:r>
              <a:rPr sz="950" spc="65" dirty="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sz="950" spc="60" dirty="0">
                <a:solidFill>
                  <a:srgbClr val="373737"/>
                </a:solidFill>
                <a:latin typeface="Tahoma"/>
                <a:cs typeface="Tahoma"/>
              </a:rPr>
              <a:t>types </a:t>
            </a:r>
            <a:r>
              <a:rPr sz="950" spc="30" dirty="0">
                <a:solidFill>
                  <a:srgbClr val="373737"/>
                </a:solidFill>
                <a:latin typeface="Tahoma"/>
                <a:cs typeface="Tahoma"/>
              </a:rPr>
              <a:t>to </a:t>
            </a:r>
            <a:r>
              <a:rPr sz="950" spc="20" dirty="0">
                <a:solidFill>
                  <a:srgbClr val="373737"/>
                </a:solidFill>
                <a:latin typeface="Tahoma"/>
                <a:cs typeface="Tahoma"/>
              </a:rPr>
              <a:t>identify</a:t>
            </a:r>
            <a:r>
              <a:rPr sz="950" spc="55" dirty="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sz="950" spc="20" dirty="0">
                <a:solidFill>
                  <a:srgbClr val="373737"/>
                </a:solidFill>
                <a:latin typeface="Tahoma"/>
                <a:cs typeface="Tahoma"/>
              </a:rPr>
              <a:t>which</a:t>
            </a:r>
            <a:r>
              <a:rPr sz="950" spc="55" dirty="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sz="950" spc="20" dirty="0">
                <a:solidFill>
                  <a:srgbClr val="373737"/>
                </a:solidFill>
                <a:latin typeface="Tahoma"/>
                <a:cs typeface="Tahoma"/>
              </a:rPr>
              <a:t>fleet</a:t>
            </a:r>
            <a:r>
              <a:rPr sz="950" spc="60" dirty="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sz="950" spc="45" dirty="0">
                <a:solidFill>
                  <a:srgbClr val="373737"/>
                </a:solidFill>
                <a:latin typeface="Tahoma"/>
                <a:cs typeface="Tahoma"/>
              </a:rPr>
              <a:t>segments</a:t>
            </a:r>
            <a:r>
              <a:rPr sz="950" spc="55" dirty="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sz="950" spc="20" dirty="0">
                <a:solidFill>
                  <a:srgbClr val="373737"/>
                </a:solidFill>
                <a:latin typeface="Tahoma"/>
                <a:cs typeface="Tahoma"/>
              </a:rPr>
              <a:t>underperform</a:t>
            </a:r>
            <a:r>
              <a:rPr sz="950" spc="55" dirty="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sz="950" spc="10" dirty="0">
                <a:solidFill>
                  <a:srgbClr val="373737"/>
                </a:solidFill>
                <a:latin typeface="Tahoma"/>
                <a:cs typeface="Tahoma"/>
              </a:rPr>
              <a:t>—</a:t>
            </a:r>
            <a:r>
              <a:rPr sz="950" spc="60" dirty="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sz="950" spc="20" dirty="0">
                <a:solidFill>
                  <a:srgbClr val="373737"/>
                </a:solidFill>
                <a:latin typeface="Tahoma"/>
                <a:cs typeface="Tahoma"/>
              </a:rPr>
              <a:t>and</a:t>
            </a:r>
            <a:r>
              <a:rPr sz="950" spc="55" dirty="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sz="950" spc="-20" dirty="0">
                <a:solidFill>
                  <a:srgbClr val="373737"/>
                </a:solidFill>
                <a:latin typeface="Tahoma"/>
                <a:cs typeface="Tahoma"/>
              </a:rPr>
              <a:t>why.</a:t>
            </a:r>
            <a:endParaRPr sz="9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05"/>
              </a:spcBef>
            </a:pPr>
            <a:endParaRPr sz="950">
              <a:latin typeface="Tahoma"/>
              <a:cs typeface="Tahoma"/>
            </a:endParaRPr>
          </a:p>
          <a:p>
            <a:pPr marL="415290" marR="104775">
              <a:lnSpc>
                <a:spcPct val="118400"/>
              </a:lnSpc>
            </a:pPr>
            <a:r>
              <a:rPr sz="950" spc="20" dirty="0">
                <a:latin typeface="Tahoma"/>
                <a:cs typeface="Tahoma"/>
              </a:rPr>
              <a:t>Use</a:t>
            </a:r>
            <a:r>
              <a:rPr sz="950" spc="30" dirty="0">
                <a:latin typeface="Tahoma"/>
                <a:cs typeface="Tahoma"/>
              </a:rPr>
              <a:t> </a:t>
            </a:r>
            <a:r>
              <a:rPr sz="950" spc="20" dirty="0">
                <a:latin typeface="Tahoma"/>
                <a:cs typeface="Tahoma"/>
              </a:rPr>
              <a:t>this</a:t>
            </a:r>
            <a:r>
              <a:rPr sz="950" spc="35" dirty="0">
                <a:latin typeface="Tahoma"/>
                <a:cs typeface="Tahoma"/>
              </a:rPr>
              <a:t> </a:t>
            </a:r>
            <a:r>
              <a:rPr sz="950" spc="20" dirty="0">
                <a:latin typeface="Tahoma"/>
                <a:cs typeface="Tahoma"/>
              </a:rPr>
              <a:t>view</a:t>
            </a:r>
            <a:r>
              <a:rPr sz="950" spc="35" dirty="0">
                <a:latin typeface="Tahoma"/>
                <a:cs typeface="Tahoma"/>
              </a:rPr>
              <a:t> </a:t>
            </a:r>
            <a:r>
              <a:rPr sz="950" spc="55" dirty="0">
                <a:latin typeface="Tahoma"/>
                <a:cs typeface="Tahoma"/>
              </a:rPr>
              <a:t>to</a:t>
            </a:r>
            <a:r>
              <a:rPr sz="950" spc="35" dirty="0">
                <a:latin typeface="Tahoma"/>
                <a:cs typeface="Tahoma"/>
              </a:rPr>
              <a:t> </a:t>
            </a:r>
            <a:r>
              <a:rPr sz="950" spc="20" dirty="0">
                <a:latin typeface="Tahoma"/>
                <a:cs typeface="Tahoma"/>
              </a:rPr>
              <a:t>guide</a:t>
            </a:r>
            <a:r>
              <a:rPr sz="950" spc="35" dirty="0">
                <a:latin typeface="Tahoma"/>
                <a:cs typeface="Tahoma"/>
              </a:rPr>
              <a:t> </a:t>
            </a:r>
            <a:r>
              <a:rPr sz="950" spc="20" dirty="0">
                <a:latin typeface="Tahoma"/>
                <a:cs typeface="Tahoma"/>
              </a:rPr>
              <a:t>fleet</a:t>
            </a:r>
            <a:r>
              <a:rPr sz="950" spc="35" dirty="0">
                <a:latin typeface="Tahoma"/>
                <a:cs typeface="Tahoma"/>
              </a:rPr>
              <a:t> </a:t>
            </a:r>
            <a:r>
              <a:rPr sz="950" spc="20" dirty="0">
                <a:latin typeface="Tahoma"/>
                <a:cs typeface="Tahoma"/>
              </a:rPr>
              <a:t>allocation</a:t>
            </a:r>
            <a:r>
              <a:rPr sz="950" spc="30" dirty="0">
                <a:latin typeface="Tahoma"/>
                <a:cs typeface="Tahoma"/>
              </a:rPr>
              <a:t> </a:t>
            </a:r>
            <a:r>
              <a:rPr sz="950" spc="40" dirty="0">
                <a:latin typeface="Tahoma"/>
                <a:cs typeface="Tahoma"/>
              </a:rPr>
              <a:t>decisions </a:t>
            </a:r>
            <a:r>
              <a:rPr sz="950" spc="55" dirty="0">
                <a:latin typeface="Tahoma"/>
                <a:cs typeface="Tahoma"/>
              </a:rPr>
              <a:t>by</a:t>
            </a:r>
            <a:r>
              <a:rPr sz="950" spc="70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zone</a:t>
            </a:r>
            <a:r>
              <a:rPr sz="950" spc="70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and</a:t>
            </a:r>
            <a:r>
              <a:rPr sz="950" spc="75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time</a:t>
            </a:r>
            <a:r>
              <a:rPr sz="950" spc="70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of</a:t>
            </a:r>
            <a:r>
              <a:rPr sz="950" spc="75" dirty="0">
                <a:latin typeface="Tahoma"/>
                <a:cs typeface="Tahoma"/>
              </a:rPr>
              <a:t> </a:t>
            </a:r>
            <a:r>
              <a:rPr sz="950" spc="-20" dirty="0">
                <a:latin typeface="Tahoma"/>
                <a:cs typeface="Tahoma"/>
              </a:rPr>
              <a:t>day.</a:t>
            </a:r>
            <a:endParaRPr sz="9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7128" rIns="0" bIns="0" rtlCol="0">
            <a:spAutoFit/>
          </a:bodyPr>
          <a:lstStyle/>
          <a:p>
            <a:pPr marL="3175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Average</a:t>
            </a:r>
            <a:r>
              <a:rPr spc="-65" dirty="0"/>
              <a:t> </a:t>
            </a:r>
            <a:r>
              <a:rPr dirty="0"/>
              <a:t>Delivery</a:t>
            </a:r>
            <a:r>
              <a:rPr spc="-60" dirty="0"/>
              <a:t> </a:t>
            </a:r>
            <a:r>
              <a:rPr dirty="0"/>
              <a:t>Time</a:t>
            </a:r>
            <a:r>
              <a:rPr spc="-60" dirty="0"/>
              <a:t> </a:t>
            </a:r>
            <a:r>
              <a:rPr dirty="0"/>
              <a:t>by</a:t>
            </a:r>
            <a:r>
              <a:rPr spc="-60" dirty="0"/>
              <a:t> </a:t>
            </a:r>
            <a:r>
              <a:rPr spc="-20" dirty="0"/>
              <a:t>Order</a:t>
            </a:r>
            <a:r>
              <a:rPr spc="-60" dirty="0"/>
              <a:t> </a:t>
            </a:r>
            <a:r>
              <a:rPr spc="-20" dirty="0"/>
              <a:t>Type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07466" y="2975197"/>
            <a:ext cx="3230880" cy="10553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50" dirty="0">
                <a:solidFill>
                  <a:srgbClr val="010101"/>
                </a:solidFill>
                <a:latin typeface="Georgia"/>
                <a:cs typeface="Georgia"/>
              </a:rPr>
              <a:t>Where</a:t>
            </a:r>
            <a:r>
              <a:rPr sz="1350" spc="40" dirty="0">
                <a:solidFill>
                  <a:srgbClr val="010101"/>
                </a:solidFill>
                <a:latin typeface="Georgia"/>
                <a:cs typeface="Georgia"/>
              </a:rPr>
              <a:t> </a:t>
            </a:r>
            <a:r>
              <a:rPr sz="1350" dirty="0">
                <a:solidFill>
                  <a:srgbClr val="010101"/>
                </a:solidFill>
                <a:latin typeface="Georgia"/>
                <a:cs typeface="Georgia"/>
              </a:rPr>
              <a:t>delays</a:t>
            </a:r>
            <a:r>
              <a:rPr sz="1350" spc="40" dirty="0">
                <a:solidFill>
                  <a:srgbClr val="010101"/>
                </a:solidFill>
                <a:latin typeface="Georgia"/>
                <a:cs typeface="Georgia"/>
              </a:rPr>
              <a:t> </a:t>
            </a:r>
            <a:r>
              <a:rPr sz="1350" spc="-10" dirty="0">
                <a:solidFill>
                  <a:srgbClr val="010101"/>
                </a:solidFill>
                <a:latin typeface="Georgia"/>
                <a:cs typeface="Georgia"/>
              </a:rPr>
              <a:t>concentrate</a:t>
            </a:r>
            <a:endParaRPr sz="1350">
              <a:latin typeface="Georgia"/>
              <a:cs typeface="Georgia"/>
            </a:endParaRPr>
          </a:p>
          <a:p>
            <a:pPr marL="12700" marR="5080">
              <a:lnSpc>
                <a:spcPct val="115100"/>
              </a:lnSpc>
              <a:spcBef>
                <a:spcPts val="665"/>
              </a:spcBef>
            </a:pPr>
            <a:r>
              <a:rPr sz="1050" spc="20" dirty="0">
                <a:solidFill>
                  <a:srgbClr val="373737"/>
                </a:solidFill>
                <a:latin typeface="Tahoma"/>
                <a:cs typeface="Tahoma"/>
              </a:rPr>
              <a:t>Certain</a:t>
            </a:r>
            <a:r>
              <a:rPr sz="1050" spc="15" dirty="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sz="1050" spc="20" dirty="0">
                <a:solidFill>
                  <a:srgbClr val="373737"/>
                </a:solidFill>
                <a:latin typeface="Tahoma"/>
                <a:cs typeface="Tahoma"/>
              </a:rPr>
              <a:t>order</a:t>
            </a:r>
            <a:r>
              <a:rPr sz="1050" spc="15" dirty="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sz="1050" spc="50" dirty="0">
                <a:solidFill>
                  <a:srgbClr val="373737"/>
                </a:solidFill>
                <a:latin typeface="Tahoma"/>
                <a:cs typeface="Tahoma"/>
              </a:rPr>
              <a:t>types</a:t>
            </a:r>
            <a:r>
              <a:rPr sz="1050" spc="15" dirty="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sz="1050" spc="20" dirty="0">
                <a:solidFill>
                  <a:srgbClr val="373737"/>
                </a:solidFill>
                <a:latin typeface="Tahoma"/>
                <a:cs typeface="Tahoma"/>
              </a:rPr>
              <a:t>consistently take</a:t>
            </a:r>
            <a:r>
              <a:rPr sz="1050" spc="15" dirty="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sz="1050" spc="-10" dirty="0">
                <a:solidFill>
                  <a:srgbClr val="373737"/>
                </a:solidFill>
                <a:latin typeface="Tahoma"/>
                <a:cs typeface="Tahoma"/>
              </a:rPr>
              <a:t>longer. </a:t>
            </a:r>
            <a:r>
              <a:rPr sz="1050" spc="10" dirty="0">
                <a:solidFill>
                  <a:srgbClr val="373737"/>
                </a:solidFill>
                <a:latin typeface="Tahoma"/>
                <a:cs typeface="Tahoma"/>
              </a:rPr>
              <a:t>Pinpointing</a:t>
            </a:r>
            <a:r>
              <a:rPr sz="1050" spc="65" dirty="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sz="1050" spc="10" dirty="0">
                <a:solidFill>
                  <a:srgbClr val="373737"/>
                </a:solidFill>
                <a:latin typeface="Tahoma"/>
                <a:cs typeface="Tahoma"/>
              </a:rPr>
              <a:t>these</a:t>
            </a:r>
            <a:r>
              <a:rPr sz="1050" spc="70" dirty="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sz="1050" spc="10" dirty="0">
                <a:solidFill>
                  <a:srgbClr val="373737"/>
                </a:solidFill>
                <a:latin typeface="Tahoma"/>
                <a:cs typeface="Tahoma"/>
              </a:rPr>
              <a:t>helps</a:t>
            </a:r>
            <a:r>
              <a:rPr sz="1050" spc="65" dirty="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sz="1050" spc="10" dirty="0">
                <a:solidFill>
                  <a:srgbClr val="373737"/>
                </a:solidFill>
                <a:latin typeface="Tahoma"/>
                <a:cs typeface="Tahoma"/>
              </a:rPr>
              <a:t>restaurants</a:t>
            </a:r>
            <a:r>
              <a:rPr sz="1050" spc="70" dirty="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sz="1050" spc="10" dirty="0">
                <a:solidFill>
                  <a:srgbClr val="373737"/>
                </a:solidFill>
                <a:latin typeface="Tahoma"/>
                <a:cs typeface="Tahoma"/>
              </a:rPr>
              <a:t>and</a:t>
            </a:r>
            <a:r>
              <a:rPr sz="1050" spc="70" dirty="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sz="1050" spc="-10" dirty="0">
                <a:solidFill>
                  <a:srgbClr val="373737"/>
                </a:solidFill>
                <a:latin typeface="Tahoma"/>
                <a:cs typeface="Tahoma"/>
              </a:rPr>
              <a:t>dispatchers </a:t>
            </a:r>
            <a:r>
              <a:rPr sz="1050" spc="10" dirty="0">
                <a:solidFill>
                  <a:srgbClr val="373737"/>
                </a:solidFill>
                <a:latin typeface="Tahoma"/>
                <a:cs typeface="Tahoma"/>
              </a:rPr>
              <a:t>set</a:t>
            </a:r>
            <a:r>
              <a:rPr sz="1050" spc="30" dirty="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sz="1050" spc="10" dirty="0">
                <a:solidFill>
                  <a:srgbClr val="373737"/>
                </a:solidFill>
                <a:latin typeface="Tahoma"/>
                <a:cs typeface="Tahoma"/>
              </a:rPr>
              <a:t>accurate</a:t>
            </a:r>
            <a:r>
              <a:rPr sz="1050" spc="35" dirty="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sz="1050" dirty="0">
                <a:solidFill>
                  <a:srgbClr val="373737"/>
                </a:solidFill>
                <a:latin typeface="Tahoma"/>
                <a:cs typeface="Tahoma"/>
              </a:rPr>
              <a:t>ETAs</a:t>
            </a:r>
            <a:r>
              <a:rPr sz="1050" spc="35" dirty="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sz="1050" spc="10" dirty="0">
                <a:solidFill>
                  <a:srgbClr val="373737"/>
                </a:solidFill>
                <a:latin typeface="Tahoma"/>
                <a:cs typeface="Tahoma"/>
              </a:rPr>
              <a:t>and</a:t>
            </a:r>
            <a:r>
              <a:rPr sz="1050" spc="35" dirty="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sz="1050" spc="10" dirty="0">
                <a:solidFill>
                  <a:srgbClr val="373737"/>
                </a:solidFill>
                <a:latin typeface="Tahoma"/>
                <a:cs typeface="Tahoma"/>
              </a:rPr>
              <a:t>manage</a:t>
            </a:r>
            <a:r>
              <a:rPr sz="1050" spc="35" dirty="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sz="1050" spc="-10" dirty="0">
                <a:solidFill>
                  <a:srgbClr val="373737"/>
                </a:solidFill>
                <a:latin typeface="Tahoma"/>
                <a:cs typeface="Tahoma"/>
              </a:rPr>
              <a:t>customer expectations.</a:t>
            </a:r>
            <a:endParaRPr sz="105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24449" y="1304924"/>
            <a:ext cx="4876799" cy="441007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19125" y="628649"/>
            <a:ext cx="5476874" cy="4429124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607466" y="5152327"/>
            <a:ext cx="3582670" cy="3886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350" dirty="0">
                <a:solidFill>
                  <a:srgbClr val="010101"/>
                </a:solidFill>
                <a:latin typeface="Georgia"/>
                <a:cs typeface="Georgia"/>
              </a:rPr>
              <a:t>Distance</a:t>
            </a:r>
            <a:r>
              <a:rPr sz="2350" spc="75" dirty="0">
                <a:solidFill>
                  <a:srgbClr val="010101"/>
                </a:solidFill>
                <a:latin typeface="Georgia"/>
                <a:cs typeface="Georgia"/>
              </a:rPr>
              <a:t> </a:t>
            </a:r>
            <a:r>
              <a:rPr sz="2350" dirty="0">
                <a:solidFill>
                  <a:srgbClr val="010101"/>
                </a:solidFill>
                <a:latin typeface="Georgia"/>
                <a:cs typeface="Georgia"/>
              </a:rPr>
              <a:t>vs.</a:t>
            </a:r>
            <a:r>
              <a:rPr sz="2350" spc="-30" dirty="0">
                <a:solidFill>
                  <a:srgbClr val="010101"/>
                </a:solidFill>
                <a:latin typeface="Georgia"/>
                <a:cs typeface="Georgia"/>
              </a:rPr>
              <a:t> </a:t>
            </a:r>
            <a:r>
              <a:rPr sz="2350" dirty="0">
                <a:solidFill>
                  <a:srgbClr val="010101"/>
                </a:solidFill>
                <a:latin typeface="Georgia"/>
                <a:cs typeface="Georgia"/>
              </a:rPr>
              <a:t>Delivery</a:t>
            </a:r>
            <a:r>
              <a:rPr sz="2350" spc="85" dirty="0">
                <a:solidFill>
                  <a:srgbClr val="010101"/>
                </a:solidFill>
                <a:latin typeface="Georgia"/>
                <a:cs typeface="Georgia"/>
              </a:rPr>
              <a:t> </a:t>
            </a:r>
            <a:r>
              <a:rPr sz="2350" spc="-20" dirty="0">
                <a:solidFill>
                  <a:srgbClr val="010101"/>
                </a:solidFill>
                <a:latin typeface="Georgia"/>
                <a:cs typeface="Georgia"/>
              </a:rPr>
              <a:t>Time</a:t>
            </a:r>
            <a:endParaRPr sz="2350">
              <a:latin typeface="Georgia"/>
              <a:cs typeface="Georg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07466" y="5634768"/>
            <a:ext cx="7414895" cy="1638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900" dirty="0">
                <a:solidFill>
                  <a:srgbClr val="373737"/>
                </a:solidFill>
                <a:latin typeface="Tahoma"/>
                <a:cs typeface="Tahoma"/>
              </a:rPr>
              <a:t>The</a:t>
            </a:r>
            <a:r>
              <a:rPr sz="900" spc="114" dirty="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373737"/>
                </a:solidFill>
                <a:latin typeface="Tahoma"/>
                <a:cs typeface="Tahoma"/>
              </a:rPr>
              <a:t>relationship</a:t>
            </a:r>
            <a:r>
              <a:rPr sz="900" spc="120" dirty="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373737"/>
                </a:solidFill>
                <a:latin typeface="Tahoma"/>
                <a:cs typeface="Tahoma"/>
              </a:rPr>
              <a:t>between</a:t>
            </a:r>
            <a:r>
              <a:rPr sz="900" spc="120" dirty="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373737"/>
                </a:solidFill>
                <a:latin typeface="Tahoma"/>
                <a:cs typeface="Tahoma"/>
              </a:rPr>
              <a:t>distance</a:t>
            </a:r>
            <a:r>
              <a:rPr sz="900" spc="120" dirty="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373737"/>
                </a:solidFill>
                <a:latin typeface="Tahoma"/>
                <a:cs typeface="Tahoma"/>
              </a:rPr>
              <a:t>and</a:t>
            </a:r>
            <a:r>
              <a:rPr sz="900" spc="120" dirty="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373737"/>
                </a:solidFill>
                <a:latin typeface="Tahoma"/>
                <a:cs typeface="Tahoma"/>
              </a:rPr>
              <a:t>time</a:t>
            </a:r>
            <a:r>
              <a:rPr sz="900" spc="120" dirty="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373737"/>
                </a:solidFill>
                <a:latin typeface="Tahoma"/>
                <a:cs typeface="Tahoma"/>
              </a:rPr>
              <a:t>reveals</a:t>
            </a:r>
            <a:r>
              <a:rPr sz="900" spc="120" dirty="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373737"/>
                </a:solidFill>
                <a:latin typeface="Tahoma"/>
                <a:cs typeface="Tahoma"/>
              </a:rPr>
              <a:t>routing</a:t>
            </a:r>
            <a:r>
              <a:rPr sz="900" spc="120" dirty="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373737"/>
                </a:solidFill>
                <a:latin typeface="Tahoma"/>
                <a:cs typeface="Tahoma"/>
              </a:rPr>
              <a:t>efficiency</a:t>
            </a:r>
            <a:r>
              <a:rPr sz="900" spc="120" dirty="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373737"/>
                </a:solidFill>
                <a:latin typeface="Tahoma"/>
                <a:cs typeface="Tahoma"/>
              </a:rPr>
              <a:t>—</a:t>
            </a:r>
            <a:r>
              <a:rPr sz="900" spc="120" dirty="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373737"/>
                </a:solidFill>
                <a:latin typeface="Tahoma"/>
                <a:cs typeface="Tahoma"/>
              </a:rPr>
              <a:t>deviations</a:t>
            </a:r>
            <a:r>
              <a:rPr sz="900" spc="120" dirty="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373737"/>
                </a:solidFill>
                <a:latin typeface="Tahoma"/>
                <a:cs typeface="Tahoma"/>
              </a:rPr>
              <a:t>from</a:t>
            </a:r>
            <a:r>
              <a:rPr sz="900" spc="120" dirty="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373737"/>
                </a:solidFill>
                <a:latin typeface="Tahoma"/>
                <a:cs typeface="Tahoma"/>
              </a:rPr>
              <a:t>the</a:t>
            </a:r>
            <a:r>
              <a:rPr sz="900" spc="120" dirty="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373737"/>
                </a:solidFill>
                <a:latin typeface="Tahoma"/>
                <a:cs typeface="Tahoma"/>
              </a:rPr>
              <a:t>trend</a:t>
            </a:r>
            <a:r>
              <a:rPr sz="900" spc="120" dirty="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373737"/>
                </a:solidFill>
                <a:latin typeface="Tahoma"/>
                <a:cs typeface="Tahoma"/>
              </a:rPr>
              <a:t>line</a:t>
            </a:r>
            <a:r>
              <a:rPr sz="900" spc="120" dirty="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373737"/>
                </a:solidFill>
                <a:latin typeface="Tahoma"/>
                <a:cs typeface="Tahoma"/>
              </a:rPr>
              <a:t>highlight</a:t>
            </a:r>
            <a:r>
              <a:rPr sz="900" spc="120" dirty="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373737"/>
                </a:solidFill>
                <a:latin typeface="Tahoma"/>
                <a:cs typeface="Tahoma"/>
              </a:rPr>
              <a:t>optimization</a:t>
            </a:r>
            <a:r>
              <a:rPr sz="900" spc="120" dirty="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sz="900" spc="-10" dirty="0">
                <a:solidFill>
                  <a:srgbClr val="373737"/>
                </a:solidFill>
                <a:latin typeface="Tahoma"/>
                <a:cs typeface="Tahoma"/>
              </a:rPr>
              <a:t>opportunities.</a:t>
            </a:r>
            <a:endParaRPr sz="9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9028" rIns="0" bIns="0" rtlCol="0">
            <a:spAutoFit/>
          </a:bodyPr>
          <a:lstStyle/>
          <a:p>
            <a:pPr marL="31750">
              <a:lnSpc>
                <a:spcPct val="100000"/>
              </a:lnSpc>
              <a:spcBef>
                <a:spcPts val="95"/>
              </a:spcBef>
            </a:pPr>
            <a:r>
              <a:rPr dirty="0"/>
              <a:t>Delivery Time</a:t>
            </a:r>
            <a:r>
              <a:rPr spc="-80" dirty="0"/>
              <a:t> </a:t>
            </a:r>
            <a:r>
              <a:rPr spc="-20" dirty="0"/>
              <a:t>Variability</a:t>
            </a:r>
            <a:r>
              <a:rPr spc="-110" dirty="0"/>
              <a:t> </a:t>
            </a:r>
            <a:r>
              <a:rPr spc="70" dirty="0"/>
              <a:t>—</a:t>
            </a:r>
            <a:r>
              <a:rPr spc="-110" dirty="0"/>
              <a:t> </a:t>
            </a:r>
            <a:r>
              <a:rPr spc="-10" dirty="0"/>
              <a:t>Boxplot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38274" y="1266824"/>
            <a:ext cx="4876799" cy="391477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7450881" y="2775172"/>
            <a:ext cx="3361054" cy="874394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50" dirty="0">
                <a:solidFill>
                  <a:srgbClr val="010101"/>
                </a:solidFill>
                <a:latin typeface="Georgia"/>
                <a:cs typeface="Georgia"/>
              </a:rPr>
              <a:t>Consistency</a:t>
            </a:r>
            <a:r>
              <a:rPr sz="1350" spc="70" dirty="0">
                <a:solidFill>
                  <a:srgbClr val="010101"/>
                </a:solidFill>
                <a:latin typeface="Georgia"/>
                <a:cs typeface="Georgia"/>
              </a:rPr>
              <a:t> </a:t>
            </a:r>
            <a:r>
              <a:rPr sz="1350" dirty="0">
                <a:solidFill>
                  <a:srgbClr val="010101"/>
                </a:solidFill>
                <a:latin typeface="Georgia"/>
                <a:cs typeface="Georgia"/>
              </a:rPr>
              <a:t>is</a:t>
            </a:r>
            <a:r>
              <a:rPr sz="1350" spc="75" dirty="0">
                <a:solidFill>
                  <a:srgbClr val="010101"/>
                </a:solidFill>
                <a:latin typeface="Georgia"/>
                <a:cs typeface="Georgia"/>
              </a:rPr>
              <a:t> </a:t>
            </a:r>
            <a:r>
              <a:rPr sz="1350" dirty="0">
                <a:solidFill>
                  <a:srgbClr val="010101"/>
                </a:solidFill>
                <a:latin typeface="Georgia"/>
                <a:cs typeface="Georgia"/>
              </a:rPr>
              <a:t>the</a:t>
            </a:r>
            <a:r>
              <a:rPr sz="1350" spc="75" dirty="0">
                <a:solidFill>
                  <a:srgbClr val="010101"/>
                </a:solidFill>
                <a:latin typeface="Georgia"/>
                <a:cs typeface="Georgia"/>
              </a:rPr>
              <a:t> </a:t>
            </a:r>
            <a:r>
              <a:rPr sz="1350" dirty="0">
                <a:solidFill>
                  <a:srgbClr val="010101"/>
                </a:solidFill>
                <a:latin typeface="Georgia"/>
                <a:cs typeface="Georgia"/>
              </a:rPr>
              <a:t>real</a:t>
            </a:r>
            <a:r>
              <a:rPr sz="1350" spc="75" dirty="0">
                <a:solidFill>
                  <a:srgbClr val="010101"/>
                </a:solidFill>
                <a:latin typeface="Georgia"/>
                <a:cs typeface="Georgia"/>
              </a:rPr>
              <a:t> </a:t>
            </a:r>
            <a:r>
              <a:rPr sz="1350" spc="-10" dirty="0">
                <a:solidFill>
                  <a:srgbClr val="010101"/>
                </a:solidFill>
                <a:latin typeface="Georgia"/>
                <a:cs typeface="Georgia"/>
              </a:rPr>
              <a:t>metric</a:t>
            </a:r>
            <a:endParaRPr sz="1350">
              <a:latin typeface="Georgia"/>
              <a:cs typeface="Georgia"/>
            </a:endParaRPr>
          </a:p>
          <a:p>
            <a:pPr marL="12700" marR="5080">
              <a:lnSpc>
                <a:spcPct val="116100"/>
              </a:lnSpc>
              <a:spcBef>
                <a:spcPts val="655"/>
              </a:spcBef>
            </a:pPr>
            <a:r>
              <a:rPr sz="1050" spc="10" dirty="0">
                <a:solidFill>
                  <a:srgbClr val="373737"/>
                </a:solidFill>
                <a:latin typeface="Tahoma"/>
                <a:cs typeface="Tahoma"/>
              </a:rPr>
              <a:t>Outliers</a:t>
            </a:r>
            <a:r>
              <a:rPr sz="1050" spc="40" dirty="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sz="1050" spc="10" dirty="0">
                <a:solidFill>
                  <a:srgbClr val="373737"/>
                </a:solidFill>
                <a:latin typeface="Tahoma"/>
                <a:cs typeface="Tahoma"/>
              </a:rPr>
              <a:t>and</a:t>
            </a:r>
            <a:r>
              <a:rPr sz="1050" spc="45" dirty="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sz="1050" spc="10" dirty="0">
                <a:solidFill>
                  <a:srgbClr val="373737"/>
                </a:solidFill>
                <a:latin typeface="Tahoma"/>
                <a:cs typeface="Tahoma"/>
              </a:rPr>
              <a:t>spread</a:t>
            </a:r>
            <a:r>
              <a:rPr sz="1050" spc="45" dirty="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sz="1050" spc="10" dirty="0">
                <a:solidFill>
                  <a:srgbClr val="373737"/>
                </a:solidFill>
                <a:latin typeface="Tahoma"/>
                <a:cs typeface="Tahoma"/>
              </a:rPr>
              <a:t>reveal</a:t>
            </a:r>
            <a:r>
              <a:rPr sz="1050" spc="45" dirty="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sz="1050" spc="10" dirty="0">
                <a:solidFill>
                  <a:srgbClr val="373737"/>
                </a:solidFill>
                <a:latin typeface="Tahoma"/>
                <a:cs typeface="Tahoma"/>
              </a:rPr>
              <a:t>which</a:t>
            </a:r>
            <a:r>
              <a:rPr sz="1050" spc="40" dirty="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sz="1050" spc="10" dirty="0">
                <a:solidFill>
                  <a:srgbClr val="373737"/>
                </a:solidFill>
                <a:latin typeface="Tahoma"/>
                <a:cs typeface="Tahoma"/>
              </a:rPr>
              <a:t>segments</a:t>
            </a:r>
            <a:r>
              <a:rPr sz="1050" spc="45" dirty="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sz="1050" spc="10" dirty="0">
                <a:solidFill>
                  <a:srgbClr val="373737"/>
                </a:solidFill>
                <a:latin typeface="Tahoma"/>
                <a:cs typeface="Tahoma"/>
              </a:rPr>
              <a:t>have</a:t>
            </a:r>
            <a:r>
              <a:rPr sz="1050" spc="45" dirty="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sz="1050" spc="-25" dirty="0">
                <a:solidFill>
                  <a:srgbClr val="373737"/>
                </a:solidFill>
                <a:latin typeface="Tahoma"/>
                <a:cs typeface="Tahoma"/>
              </a:rPr>
              <a:t>the </a:t>
            </a:r>
            <a:r>
              <a:rPr sz="1050" dirty="0">
                <a:solidFill>
                  <a:srgbClr val="373737"/>
                </a:solidFill>
                <a:latin typeface="Tahoma"/>
                <a:cs typeface="Tahoma"/>
              </a:rPr>
              <a:t>most</a:t>
            </a:r>
            <a:r>
              <a:rPr sz="1050" spc="114" dirty="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sz="1050" dirty="0">
                <a:solidFill>
                  <a:srgbClr val="373737"/>
                </a:solidFill>
                <a:latin typeface="Tahoma"/>
                <a:cs typeface="Tahoma"/>
              </a:rPr>
              <a:t>unpredictable</a:t>
            </a:r>
            <a:r>
              <a:rPr sz="1050" spc="114" dirty="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sz="1050" dirty="0">
                <a:solidFill>
                  <a:srgbClr val="373737"/>
                </a:solidFill>
                <a:latin typeface="Tahoma"/>
                <a:cs typeface="Tahoma"/>
              </a:rPr>
              <a:t>delivery</a:t>
            </a:r>
            <a:r>
              <a:rPr sz="1050" spc="120" dirty="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sz="1050" dirty="0">
                <a:solidFill>
                  <a:srgbClr val="373737"/>
                </a:solidFill>
                <a:latin typeface="Tahoma"/>
                <a:cs typeface="Tahoma"/>
              </a:rPr>
              <a:t>times</a:t>
            </a:r>
            <a:r>
              <a:rPr sz="1050" spc="114" dirty="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sz="1050" spc="-40" dirty="0">
                <a:solidFill>
                  <a:srgbClr val="373737"/>
                </a:solidFill>
                <a:latin typeface="Tahoma"/>
                <a:cs typeface="Tahoma"/>
              </a:rPr>
              <a:t>—</a:t>
            </a:r>
            <a:r>
              <a:rPr sz="1050" spc="120" dirty="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sz="1050" dirty="0">
                <a:solidFill>
                  <a:srgbClr val="373737"/>
                </a:solidFill>
                <a:latin typeface="Tahoma"/>
                <a:cs typeface="Tahoma"/>
              </a:rPr>
              <a:t>the</a:t>
            </a:r>
            <a:r>
              <a:rPr sz="1050" spc="114" dirty="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sz="1050" dirty="0">
                <a:solidFill>
                  <a:srgbClr val="373737"/>
                </a:solidFill>
                <a:latin typeface="Tahoma"/>
                <a:cs typeface="Tahoma"/>
              </a:rPr>
              <a:t>true</a:t>
            </a:r>
            <a:r>
              <a:rPr sz="1050" spc="114" dirty="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sz="1050" dirty="0">
                <a:solidFill>
                  <a:srgbClr val="373737"/>
                </a:solidFill>
                <a:latin typeface="Tahoma"/>
                <a:cs typeface="Tahoma"/>
              </a:rPr>
              <a:t>driver</a:t>
            </a:r>
            <a:r>
              <a:rPr sz="1050" spc="120" dirty="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sz="1050" spc="-25" dirty="0">
                <a:solidFill>
                  <a:srgbClr val="373737"/>
                </a:solidFill>
                <a:latin typeface="Tahoma"/>
                <a:cs typeface="Tahoma"/>
              </a:rPr>
              <a:t>of </a:t>
            </a:r>
            <a:r>
              <a:rPr sz="1050" spc="10" dirty="0">
                <a:solidFill>
                  <a:srgbClr val="373737"/>
                </a:solidFill>
                <a:latin typeface="Tahoma"/>
                <a:cs typeface="Tahoma"/>
              </a:rPr>
              <a:t>customer</a:t>
            </a:r>
            <a:r>
              <a:rPr sz="1050" spc="175" dirty="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sz="1050" spc="-10" dirty="0">
                <a:solidFill>
                  <a:srgbClr val="373737"/>
                </a:solidFill>
                <a:latin typeface="Tahoma"/>
                <a:cs typeface="Tahoma"/>
              </a:rPr>
              <a:t>frustration.</a:t>
            </a:r>
            <a:endParaRPr sz="1050">
              <a:latin typeface="Tahoma"/>
              <a:cs typeface="Tahom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00074" y="5381624"/>
            <a:ext cx="38100" cy="504825"/>
          </a:xfrm>
          <a:custGeom>
            <a:avLst/>
            <a:gdLst/>
            <a:ahLst/>
            <a:cxnLst/>
            <a:rect l="l" t="t" r="r" b="b"/>
            <a:pathLst>
              <a:path w="38100" h="504825">
                <a:moveTo>
                  <a:pt x="38099" y="504824"/>
                </a:moveTo>
                <a:lnTo>
                  <a:pt x="0" y="504824"/>
                </a:lnTo>
                <a:lnTo>
                  <a:pt x="0" y="0"/>
                </a:lnTo>
                <a:lnTo>
                  <a:pt x="38099" y="0"/>
                </a:lnTo>
                <a:lnTo>
                  <a:pt x="38099" y="504824"/>
                </a:lnTo>
                <a:close/>
              </a:path>
            </a:pathLst>
          </a:custGeom>
          <a:solidFill>
            <a:srgbClr val="DF4E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78470" y="5280155"/>
            <a:ext cx="1696720" cy="579120"/>
          </a:xfrm>
          <a:prstGeom prst="rect">
            <a:avLst/>
          </a:prstGeom>
        </p:spPr>
        <p:txBody>
          <a:bodyPr vert="horz" wrap="square" lIns="0" tIns="12001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44"/>
              </a:spcBef>
            </a:pPr>
            <a:r>
              <a:rPr sz="1350" spc="-10" dirty="0">
                <a:solidFill>
                  <a:srgbClr val="373737"/>
                </a:solidFill>
                <a:latin typeface="Georgia"/>
                <a:cs typeface="Georgia"/>
              </a:rPr>
              <a:t>Median</a:t>
            </a:r>
            <a:endParaRPr sz="135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630"/>
              </a:spcBef>
            </a:pPr>
            <a:r>
              <a:rPr sz="1050" dirty="0">
                <a:solidFill>
                  <a:srgbClr val="373737"/>
                </a:solidFill>
                <a:latin typeface="Tahoma"/>
                <a:cs typeface="Tahoma"/>
              </a:rPr>
              <a:t>Typical</a:t>
            </a:r>
            <a:r>
              <a:rPr sz="1050" spc="120" dirty="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sz="1050" dirty="0">
                <a:solidFill>
                  <a:srgbClr val="373737"/>
                </a:solidFill>
                <a:latin typeface="Tahoma"/>
                <a:cs typeface="Tahoma"/>
              </a:rPr>
              <a:t>delivery</a:t>
            </a:r>
            <a:r>
              <a:rPr sz="1050" spc="120" dirty="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sz="1050" spc="-10" dirty="0">
                <a:solidFill>
                  <a:srgbClr val="373737"/>
                </a:solidFill>
                <a:latin typeface="Tahoma"/>
                <a:cs typeface="Tahoma"/>
              </a:rPr>
              <a:t>experience</a:t>
            </a:r>
            <a:endParaRPr sz="1050">
              <a:latin typeface="Tahoma"/>
              <a:cs typeface="Tahom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038599" y="5381624"/>
            <a:ext cx="38100" cy="504825"/>
          </a:xfrm>
          <a:custGeom>
            <a:avLst/>
            <a:gdLst/>
            <a:ahLst/>
            <a:cxnLst/>
            <a:rect l="l" t="t" r="r" b="b"/>
            <a:pathLst>
              <a:path w="38100" h="504825">
                <a:moveTo>
                  <a:pt x="38099" y="504824"/>
                </a:moveTo>
                <a:lnTo>
                  <a:pt x="0" y="504824"/>
                </a:lnTo>
                <a:lnTo>
                  <a:pt x="0" y="0"/>
                </a:lnTo>
                <a:lnTo>
                  <a:pt x="38099" y="0"/>
                </a:lnTo>
                <a:lnTo>
                  <a:pt x="38099" y="504824"/>
                </a:lnTo>
                <a:close/>
              </a:path>
            </a:pathLst>
          </a:custGeom>
          <a:solidFill>
            <a:srgbClr val="DF4E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4216548" y="5280155"/>
            <a:ext cx="1852295" cy="579120"/>
          </a:xfrm>
          <a:prstGeom prst="rect">
            <a:avLst/>
          </a:prstGeom>
        </p:spPr>
        <p:txBody>
          <a:bodyPr vert="horz" wrap="square" lIns="0" tIns="12001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44"/>
              </a:spcBef>
            </a:pPr>
            <a:r>
              <a:rPr sz="1350" spc="-20" dirty="0">
                <a:solidFill>
                  <a:srgbClr val="373737"/>
                </a:solidFill>
                <a:latin typeface="Georgia"/>
                <a:cs typeface="Georgia"/>
              </a:rPr>
              <a:t>IQR</a:t>
            </a:r>
            <a:r>
              <a:rPr sz="1350" spc="-55" dirty="0">
                <a:solidFill>
                  <a:srgbClr val="373737"/>
                </a:solidFill>
                <a:latin typeface="Georgia"/>
                <a:cs typeface="Georgia"/>
              </a:rPr>
              <a:t> </a:t>
            </a:r>
            <a:r>
              <a:rPr sz="1350" spc="-10" dirty="0">
                <a:solidFill>
                  <a:srgbClr val="373737"/>
                </a:solidFill>
                <a:latin typeface="Georgia"/>
                <a:cs typeface="Georgia"/>
              </a:rPr>
              <a:t>Spread</a:t>
            </a:r>
            <a:endParaRPr sz="135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630"/>
              </a:spcBef>
            </a:pPr>
            <a:r>
              <a:rPr sz="1050" spc="45" dirty="0">
                <a:solidFill>
                  <a:srgbClr val="373737"/>
                </a:solidFill>
                <a:latin typeface="Tahoma"/>
                <a:cs typeface="Tahoma"/>
              </a:rPr>
              <a:t>Consistency</a:t>
            </a:r>
            <a:r>
              <a:rPr sz="1050" spc="70" dirty="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sz="1050" dirty="0">
                <a:solidFill>
                  <a:srgbClr val="373737"/>
                </a:solidFill>
                <a:latin typeface="Tahoma"/>
                <a:cs typeface="Tahoma"/>
              </a:rPr>
              <a:t>across</a:t>
            </a:r>
            <a:r>
              <a:rPr sz="1050" spc="75" dirty="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sz="1050" spc="-10" dirty="0">
                <a:solidFill>
                  <a:srgbClr val="373737"/>
                </a:solidFill>
                <a:latin typeface="Tahoma"/>
                <a:cs typeface="Tahoma"/>
              </a:rPr>
              <a:t>deliveries</a:t>
            </a:r>
            <a:endParaRPr sz="1050">
              <a:latin typeface="Tahoma"/>
              <a:cs typeface="Tahom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7477124" y="5381624"/>
            <a:ext cx="38100" cy="504825"/>
          </a:xfrm>
          <a:custGeom>
            <a:avLst/>
            <a:gdLst/>
            <a:ahLst/>
            <a:cxnLst/>
            <a:rect l="l" t="t" r="r" b="b"/>
            <a:pathLst>
              <a:path w="38100" h="504825">
                <a:moveTo>
                  <a:pt x="38099" y="504824"/>
                </a:moveTo>
                <a:lnTo>
                  <a:pt x="0" y="504824"/>
                </a:lnTo>
                <a:lnTo>
                  <a:pt x="0" y="0"/>
                </a:lnTo>
                <a:lnTo>
                  <a:pt x="38099" y="0"/>
                </a:lnTo>
                <a:lnTo>
                  <a:pt x="38099" y="504824"/>
                </a:lnTo>
                <a:close/>
              </a:path>
            </a:pathLst>
          </a:custGeom>
          <a:solidFill>
            <a:srgbClr val="DF4E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7654627" y="5280155"/>
            <a:ext cx="1830705" cy="579120"/>
          </a:xfrm>
          <a:prstGeom prst="rect">
            <a:avLst/>
          </a:prstGeom>
        </p:spPr>
        <p:txBody>
          <a:bodyPr vert="horz" wrap="square" lIns="0" tIns="12001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44"/>
              </a:spcBef>
            </a:pPr>
            <a:r>
              <a:rPr sz="1350" spc="-10" dirty="0">
                <a:solidFill>
                  <a:srgbClr val="373737"/>
                </a:solidFill>
                <a:latin typeface="Georgia"/>
                <a:cs typeface="Georgia"/>
              </a:rPr>
              <a:t>Outliers</a:t>
            </a:r>
            <a:endParaRPr sz="135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630"/>
              </a:spcBef>
            </a:pPr>
            <a:r>
              <a:rPr sz="1050" dirty="0">
                <a:solidFill>
                  <a:srgbClr val="373737"/>
                </a:solidFill>
                <a:latin typeface="Tahoma"/>
                <a:cs typeface="Tahoma"/>
              </a:rPr>
              <a:t>Extreme</a:t>
            </a:r>
            <a:r>
              <a:rPr sz="1050" spc="80" dirty="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sz="1050" dirty="0">
                <a:solidFill>
                  <a:srgbClr val="373737"/>
                </a:solidFill>
                <a:latin typeface="Tahoma"/>
                <a:cs typeface="Tahoma"/>
              </a:rPr>
              <a:t>delays</a:t>
            </a:r>
            <a:r>
              <a:rPr sz="1050" spc="80" dirty="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sz="1050" dirty="0">
                <a:solidFill>
                  <a:srgbClr val="373737"/>
                </a:solidFill>
                <a:latin typeface="Tahoma"/>
                <a:cs typeface="Tahoma"/>
              </a:rPr>
              <a:t>to</a:t>
            </a:r>
            <a:r>
              <a:rPr sz="1050" spc="80" dirty="0">
                <a:solidFill>
                  <a:srgbClr val="373737"/>
                </a:solidFill>
                <a:latin typeface="Tahoma"/>
                <a:cs typeface="Tahoma"/>
              </a:rPr>
              <a:t> </a:t>
            </a:r>
            <a:r>
              <a:rPr sz="1050" spc="-10" dirty="0">
                <a:solidFill>
                  <a:srgbClr val="373737"/>
                </a:solidFill>
                <a:latin typeface="Tahoma"/>
                <a:cs typeface="Tahoma"/>
              </a:rPr>
              <a:t>investigate</a:t>
            </a:r>
            <a:endParaRPr sz="10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</TotalTime>
  <Words>324</Words>
  <Application>Microsoft Office PowerPoint</Application>
  <PresentationFormat>Custom</PresentationFormat>
  <Paragraphs>45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Georgia</vt:lpstr>
      <vt:lpstr>Tahoma</vt:lpstr>
      <vt:lpstr>Trebuchet MS</vt:lpstr>
      <vt:lpstr>Wingdings 3</vt:lpstr>
      <vt:lpstr>Facet</vt:lpstr>
      <vt:lpstr>Food Delivery Time Analysis</vt:lpstr>
      <vt:lpstr>Delivery Time Distribution</vt:lpstr>
      <vt:lpstr>Age vs. Delivery Time</vt:lpstr>
      <vt:lpstr>PowerPoint Presentation</vt:lpstr>
      <vt:lpstr>Vehicle Type Breakdown</vt:lpstr>
      <vt:lpstr>Order Type Analysis</vt:lpstr>
      <vt:lpstr>Average Delivery Time by Vehicle</vt:lpstr>
      <vt:lpstr>Average Delivery Time by Order Type</vt:lpstr>
      <vt:lpstr>PowerPoint Presentation</vt:lpstr>
      <vt:lpstr>Delivery Time Variability — Boxplot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DJMASTER</dc:creator>
  <cp:lastModifiedBy>Nitesh Kumar</cp:lastModifiedBy>
  <cp:revision>1</cp:revision>
  <dcterms:created xsi:type="dcterms:W3CDTF">2026-05-01T04:54:22Z</dcterms:created>
  <dcterms:modified xsi:type="dcterms:W3CDTF">2026-05-01T04:57:08Z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2026-05-01T00:00:00Z</vt:filetime>
  </property>
  <property fmtid="{D5CDD505-2E9C-101B-9397-08002B2CF9AE}" pid="4" name="Creator">
    <vt:lpwstr>pdf-lib (https://github.com/Hopding/pdf-lib)</vt:lpwstr>
  </property>
  <property fmtid="{D5CDD505-2E9C-101B-9397-08002B2CF9AE}" pid="5" name="LastSaved">
    <vt:filetime>2026-05-01T00:00:00Z</vt:filetime>
  </property>
  <property fmtid="{D5CDD505-2E9C-101B-9397-08002B2CF9AE}" pid="6" name="Producer">
    <vt:lpwstr>pdf-lib (https://github.com/Hopding/pdf-lib)</vt:lpwstr>
  </property>
</Properties>
</file>